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8" r:id="rId3"/>
    <p:sldId id="299" r:id="rId4"/>
    <p:sldId id="300" r:id="rId5"/>
    <p:sldId id="301" r:id="rId6"/>
    <p:sldId id="30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2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e878312ffaf7485_15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e878312ffaf7485_15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95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36935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1E8FE625-3CB2-BC6A-AFB2-7BF1F3C4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e878312ffaf7485_15_431:notes">
            <a:extLst>
              <a:ext uri="{FF2B5EF4-FFF2-40B4-BE49-F238E27FC236}">
                <a16:creationId xmlns:a16="http://schemas.microsoft.com/office/drawing/2014/main" id="{4DB12B4D-B9E1-FE9C-C9E6-074EA8B8C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e878312ffaf7485_15_431:notes">
            <a:extLst>
              <a:ext uri="{FF2B5EF4-FFF2-40B4-BE49-F238E27FC236}">
                <a16:creationId xmlns:a16="http://schemas.microsoft.com/office/drawing/2014/main" id="{60F0A62A-A991-8517-238C-2DEE638BF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61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000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40a1524c43d_27_0)">
  <p:cSld name="Generated (g40a1524c43d_27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6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wetank-Sinha/TEAM-DEEPNEX-SIH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SIH26218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Title-Communication Aware Search Rover for Firefighters (FIRE-X).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Robotics and Drones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1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143949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Name-DEEPNEX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371600" y="10972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FIRE-X: Communication-Aware Search</a:t>
            </a:r>
            <a:endParaRPr lang="en-US" sz="2200" dirty="0"/>
          </a:p>
          <a:p>
            <a:pPr algn="ctr">
              <a:lnSpc>
                <a:spcPct val="105000"/>
              </a:lnSpc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Rover for Firefighters</a:t>
            </a:r>
            <a:endParaRPr lang="en-US" sz="2200" dirty="0"/>
          </a:p>
        </p:txBody>
      </p:sp>
      <p:pic>
        <p:nvPicPr>
          <p:cNvPr id="4" name="Image 1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37160"/>
            <a:ext cx="1417320" cy="530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 txBox="1"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grpSp>
        <p:nvGrpSpPr>
          <p:cNvPr id="246" name="Google Shape;56;p14">
            <a:extLst>
              <a:ext uri="{FF2B5EF4-FFF2-40B4-BE49-F238E27FC236}">
                <a16:creationId xmlns:a16="http://schemas.microsoft.com/office/drawing/2014/main" id="{F787469C-3209-A1C9-3352-34CD021211EA}"/>
              </a:ext>
            </a:extLst>
          </p:cNvPr>
          <p:cNvGrpSpPr/>
          <p:nvPr/>
        </p:nvGrpSpPr>
        <p:grpSpPr>
          <a:xfrm>
            <a:off x="528813" y="1069873"/>
            <a:ext cx="3302000" cy="5145533"/>
            <a:chOff x="0" y="285750"/>
            <a:chExt cx="2476500" cy="3457575"/>
          </a:xfrm>
        </p:grpSpPr>
        <p:sp>
          <p:nvSpPr>
            <p:cNvPr id="247" name="Google Shape;57;p14">
              <a:extLst>
                <a:ext uri="{FF2B5EF4-FFF2-40B4-BE49-F238E27FC236}">
                  <a16:creationId xmlns:a16="http://schemas.microsoft.com/office/drawing/2014/main" id="{D10FE9E7-F6E9-5600-5FF3-CE98B111B7E4}"/>
                </a:ext>
              </a:extLst>
            </p:cNvPr>
            <p:cNvSpPr/>
            <p:nvPr/>
          </p:nvSpPr>
          <p:spPr>
            <a:xfrm>
              <a:off x="0" y="285750"/>
              <a:ext cx="2476500" cy="800100"/>
            </a:xfrm>
            <a:prstGeom prst="roundRect">
              <a:avLst>
                <a:gd name="adj" fmla="val 7142"/>
              </a:avLst>
            </a:prstGeom>
            <a:solidFill>
              <a:srgbClr val="FEF2F2"/>
            </a:solidFill>
            <a:ln w="9525" cap="flat" cmpd="sng">
              <a:solidFill>
                <a:srgbClr val="FECAC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58;p14">
              <a:extLst>
                <a:ext uri="{FF2B5EF4-FFF2-40B4-BE49-F238E27FC236}">
                  <a16:creationId xmlns:a16="http://schemas.microsoft.com/office/drawing/2014/main" id="{FA08052E-8973-29BB-F0F6-781928EE02B4}"/>
                </a:ext>
              </a:extLst>
            </p:cNvPr>
            <p:cNvSpPr/>
            <p:nvPr/>
          </p:nvSpPr>
          <p:spPr>
            <a:xfrm>
              <a:off x="0" y="1171575"/>
              <a:ext cx="2476500" cy="800100"/>
            </a:xfrm>
            <a:prstGeom prst="roundRect">
              <a:avLst>
                <a:gd name="adj" fmla="val 7142"/>
              </a:avLst>
            </a:prstGeom>
            <a:solidFill>
              <a:srgbClr val="FFF7ED"/>
            </a:solidFill>
            <a:ln w="9525" cap="flat" cmpd="sng">
              <a:solidFill>
                <a:srgbClr val="FED7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59;p14">
              <a:extLst>
                <a:ext uri="{FF2B5EF4-FFF2-40B4-BE49-F238E27FC236}">
                  <a16:creationId xmlns:a16="http://schemas.microsoft.com/office/drawing/2014/main" id="{1B53CCAA-767D-E1D2-E1C1-4C0A18690D26}"/>
                </a:ext>
              </a:extLst>
            </p:cNvPr>
            <p:cNvSpPr/>
            <p:nvPr/>
          </p:nvSpPr>
          <p:spPr>
            <a:xfrm>
              <a:off x="0" y="2057400"/>
              <a:ext cx="2476500" cy="800100"/>
            </a:xfrm>
            <a:prstGeom prst="roundRect">
              <a:avLst>
                <a:gd name="adj" fmla="val 7142"/>
              </a:avLst>
            </a:prstGeom>
            <a:solidFill>
              <a:srgbClr val="FEF2F2"/>
            </a:solidFill>
            <a:ln w="9525" cap="flat" cmpd="sng">
              <a:solidFill>
                <a:srgbClr val="FECAC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60;p14">
              <a:extLst>
                <a:ext uri="{FF2B5EF4-FFF2-40B4-BE49-F238E27FC236}">
                  <a16:creationId xmlns:a16="http://schemas.microsoft.com/office/drawing/2014/main" id="{03DAD729-05B2-0158-D343-85602E960F60}"/>
                </a:ext>
              </a:extLst>
            </p:cNvPr>
            <p:cNvSpPr/>
            <p:nvPr/>
          </p:nvSpPr>
          <p:spPr>
            <a:xfrm>
              <a:off x="0" y="2943225"/>
              <a:ext cx="2476500" cy="800100"/>
            </a:xfrm>
            <a:prstGeom prst="roundRect">
              <a:avLst>
                <a:gd name="adj" fmla="val 7142"/>
              </a:avLst>
            </a:prstGeom>
            <a:solidFill>
              <a:srgbClr val="FFF7ED"/>
            </a:solidFill>
            <a:ln w="9525" cap="flat" cmpd="sng">
              <a:solidFill>
                <a:srgbClr val="FED7A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6B222A60-DEAF-52F0-F56D-5679F18799DA}"/>
              </a:ext>
            </a:extLst>
          </p:cNvPr>
          <p:cNvSpPr txBox="1"/>
          <p:nvPr/>
        </p:nvSpPr>
        <p:spPr>
          <a:xfrm>
            <a:off x="1145286" y="1069873"/>
            <a:ext cx="1716786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67" dirty="0">
                <a:latin typeface="Inter ExtraBold"/>
                <a:ea typeface="Inter ExtraBold"/>
                <a:cs typeface="Inter ExtraBold"/>
                <a:sym typeface="Inter ExtraBold"/>
              </a:rPr>
              <a:t>The Core Problem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536BEB9-D609-E60C-5836-C39DEDAA9D80}"/>
              </a:ext>
            </a:extLst>
          </p:cNvPr>
          <p:cNvSpPr txBox="1"/>
          <p:nvPr/>
        </p:nvSpPr>
        <p:spPr>
          <a:xfrm>
            <a:off x="685800" y="1525205"/>
            <a:ext cx="2944368" cy="68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b="1" dirty="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Zero-Visibility &amp; Toxic Gas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33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Firefighters enter blinding smoke and lethal environments without prior visibility.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BF15290-5CD2-9F61-9E91-5722B06CCFA0}"/>
              </a:ext>
            </a:extLst>
          </p:cNvPr>
          <p:cNvSpPr txBox="1"/>
          <p:nvPr/>
        </p:nvSpPr>
        <p:spPr>
          <a:xfrm>
            <a:off x="685800" y="2487160"/>
            <a:ext cx="2714828" cy="68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b="1" dirty="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Communication Blackouts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33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Concrete walls, metal corridors, and rubble cause severe signal loss.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3637A85-F327-814F-649E-AFA96EB2B1E3}"/>
              </a:ext>
            </a:extLst>
          </p:cNvPr>
          <p:cNvSpPr txBox="1"/>
          <p:nvPr/>
        </p:nvSpPr>
        <p:spPr>
          <a:xfrm>
            <a:off x="685800" y="3797086"/>
            <a:ext cx="2944368" cy="68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b="1" dirty="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Thermal Breakdown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33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Extreme radiant heat rapidly destroys conventional reconnaissance electronics.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8DC4A5F9-B5C5-3303-6670-AB8937E4A8FE}"/>
              </a:ext>
            </a:extLst>
          </p:cNvPr>
          <p:cNvSpPr txBox="1"/>
          <p:nvPr/>
        </p:nvSpPr>
        <p:spPr>
          <a:xfrm>
            <a:off x="685800" y="5118292"/>
            <a:ext cx="2852928" cy="68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33" b="1" dirty="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Delayed Scene Intelligence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33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scouting is slow and exposes personnel before hazards are identified.</a:t>
            </a:r>
          </a:p>
        </p:txBody>
      </p:sp>
      <p:sp>
        <p:nvSpPr>
          <p:cNvPr id="335" name="Google Shape;77;p14">
            <a:extLst>
              <a:ext uri="{FF2B5EF4-FFF2-40B4-BE49-F238E27FC236}">
                <a16:creationId xmlns:a16="http://schemas.microsoft.com/office/drawing/2014/main" id="{740600C2-B778-81B9-24CD-8CFFD7F0856A}"/>
              </a:ext>
            </a:extLst>
          </p:cNvPr>
          <p:cNvSpPr txBox="1"/>
          <p:nvPr/>
        </p:nvSpPr>
        <p:spPr>
          <a:xfrm>
            <a:off x="4246641" y="843138"/>
            <a:ext cx="1957886" cy="82208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1133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sz="1133" b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36" name="Table 335">
            <a:extLst>
              <a:ext uri="{FF2B5EF4-FFF2-40B4-BE49-F238E27FC236}">
                <a16:creationId xmlns:a16="http://schemas.microsoft.com/office/drawing/2014/main" id="{C090FBE1-349D-A5F0-FFDD-33B685A1AA86}"/>
              </a:ext>
            </a:extLst>
          </p:cNvPr>
          <p:cNvGraphicFramePr>
            <a:graphicFrameLocks noGrp="1"/>
          </p:cNvGraphicFramePr>
          <p:nvPr/>
        </p:nvGraphicFramePr>
        <p:xfrm>
          <a:off x="4155202" y="1069873"/>
          <a:ext cx="7640559" cy="5086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853">
                  <a:extLst>
                    <a:ext uri="{9D8B030D-6E8A-4147-A177-3AD203B41FA5}">
                      <a16:colId xmlns:a16="http://schemas.microsoft.com/office/drawing/2014/main" val="2233468745"/>
                    </a:ext>
                  </a:extLst>
                </a:gridCol>
                <a:gridCol w="2546853">
                  <a:extLst>
                    <a:ext uri="{9D8B030D-6E8A-4147-A177-3AD203B41FA5}">
                      <a16:colId xmlns:a16="http://schemas.microsoft.com/office/drawing/2014/main" val="2394170651"/>
                    </a:ext>
                  </a:extLst>
                </a:gridCol>
                <a:gridCol w="2546853">
                  <a:extLst>
                    <a:ext uri="{9D8B030D-6E8A-4147-A177-3AD203B41FA5}">
                      <a16:colId xmlns:a16="http://schemas.microsoft.com/office/drawing/2014/main" val="3186920652"/>
                    </a:ext>
                  </a:extLst>
                </a:gridCol>
              </a:tblGrid>
              <a:tr h="8841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Proposed Solution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it Addresses Problem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Innovation &amp; Uniqueness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759213"/>
                  </a:ext>
                </a:extLst>
              </a:tr>
              <a:tr h="10610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Search-First Autonomous Rover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Eliminates direct human exposure during initial site entry.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Lightweight reconnaissance platform engineered for continuous 1-hour operation without rescue bulk.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621486"/>
                  </a:ext>
                </a:extLst>
              </a:tr>
              <a:tr h="10610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accent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Thermal Armor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Prevents internal electronics failure from heat soak and flames</a:t>
                      </a:r>
                      <a:r>
                        <a:rPr lang="en-US" sz="1800" dirty="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Combines passive ceramic/aerogel barriers with an external evaporative water-mist cooling loop.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02127"/>
                  </a:ext>
                </a:extLst>
              </a:tr>
              <a:tr h="10610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Dual-Link Mesh Network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Maintains reliable data transmission through concrete and debris.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Sub-GHz LoRa mesh fallback paired with an RF-transparent window for sealed WebRTC video streaming.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161078"/>
                  </a:ext>
                </a:extLst>
              </a:tr>
              <a:tr h="9894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accen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Edge AI Detection &amp; SLAM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Maps collapsed layouts and locates victims automatically.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On-board Jetson inference sends instant text alerts over LoRa if video bandwidth drops.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31760"/>
                  </a:ext>
                </a:extLst>
              </a:tr>
            </a:tbl>
          </a:graphicData>
        </a:graphic>
      </p:graphicFrame>
      <p:sp>
        <p:nvSpPr>
          <p:cNvPr id="23" name="Oval 2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27877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DEEPNEX</a:t>
            </a:r>
          </a:p>
        </p:txBody>
      </p:sp>
    </p:spTree>
    <p:extLst>
      <p:ext uri="{BB962C8B-B14F-4D97-AF65-F5344CB8AC3E}">
        <p14:creationId xmlns:p14="http://schemas.microsoft.com/office/powerpoint/2010/main" val="239265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411025-E2FA-16E5-CB2D-FC6B20347F3A}"/>
              </a:ext>
            </a:extLst>
          </p:cNvPr>
          <p:cNvSpPr/>
          <p:nvPr/>
        </p:nvSpPr>
        <p:spPr>
          <a:xfrm>
            <a:off x="201755" y="915899"/>
            <a:ext cx="2152825" cy="2799262"/>
          </a:xfrm>
          <a:prstGeom prst="roundRect">
            <a:avLst/>
          </a:prstGeom>
          <a:solidFill>
            <a:srgbClr val="EBF5F9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lvl="0" algn="just"/>
            <a:r>
              <a:rPr lang="en-IN" b="1" dirty="0">
                <a:solidFill>
                  <a:schemeClr val="tx1"/>
                </a:solidFill>
              </a:rPr>
              <a:t>Sensing Suite</a:t>
            </a:r>
          </a:p>
          <a:p>
            <a:pPr lvl="0" algn="just"/>
            <a:r>
              <a:rPr lang="en-IN" sz="1000" b="1" dirty="0">
                <a:solidFill>
                  <a:schemeClr val="tx1"/>
                </a:solidFill>
              </a:rPr>
              <a:t>FLIR Lepton 3.5 thermal camera:</a:t>
            </a:r>
            <a:r>
              <a:rPr lang="en-IN" sz="1000" dirty="0">
                <a:solidFill>
                  <a:schemeClr val="tx1"/>
                </a:solidFill>
              </a:rPr>
              <a:t> 160×120 </a:t>
            </a:r>
            <a:r>
              <a:rPr lang="en-IN" sz="1000" dirty="0" err="1">
                <a:solidFill>
                  <a:schemeClr val="tx1"/>
                </a:solidFill>
              </a:rPr>
              <a:t>px</a:t>
            </a:r>
            <a:r>
              <a:rPr lang="en-IN" sz="1000" dirty="0">
                <a:solidFill>
                  <a:schemeClr val="tx1"/>
                </a:solidFill>
              </a:rPr>
              <a:t>, -10°C to 400°C, high-temp housing</a:t>
            </a:r>
          </a:p>
          <a:p>
            <a:pPr lvl="0" algn="just"/>
            <a:r>
              <a:rPr lang="en-IN" sz="1000" b="1" dirty="0">
                <a:solidFill>
                  <a:schemeClr val="tx1"/>
                </a:solidFill>
              </a:rPr>
              <a:t>Intel RealSense D435i stereo depth camera:</a:t>
            </a:r>
            <a:r>
              <a:rPr lang="en-IN" sz="1000" dirty="0">
                <a:solidFill>
                  <a:schemeClr val="tx1"/>
                </a:solidFill>
              </a:rPr>
              <a:t> RGB-D, obstacle detection</a:t>
            </a:r>
          </a:p>
          <a:p>
            <a:pPr lvl="0" algn="just"/>
            <a:r>
              <a:rPr lang="en-IN" sz="1000" b="1" dirty="0">
                <a:solidFill>
                  <a:schemeClr val="tx1"/>
                </a:solidFill>
              </a:rPr>
              <a:t>Industrial gas sensors:</a:t>
            </a:r>
            <a:r>
              <a:rPr lang="en-IN" sz="1000" dirty="0">
                <a:solidFill>
                  <a:schemeClr val="tx1"/>
                </a:solidFill>
              </a:rPr>
              <a:t> MQ-2 / MQ-7 (LPG, smoke, methane), BME680 (temperature, humidity, air quality)</a:t>
            </a:r>
          </a:p>
          <a:p>
            <a:pPr lvl="0" algn="just"/>
            <a:r>
              <a:rPr lang="en-IN" sz="1000" b="1" dirty="0">
                <a:solidFill>
                  <a:schemeClr val="tx1"/>
                </a:solidFill>
              </a:rPr>
              <a:t>Ranging sensors:</a:t>
            </a:r>
            <a:r>
              <a:rPr lang="en-IN" sz="1000" dirty="0">
                <a:solidFill>
                  <a:schemeClr val="tx1"/>
                </a:solidFill>
              </a:rPr>
              <a:t> 3× waterproof ultrasonic (JSN-SR04T) + VL53L1X (ToF for obstacle ranging)</a:t>
            </a:r>
          </a:p>
          <a:p>
            <a:pPr lvl="0" algn="just"/>
            <a:r>
              <a:rPr lang="en-IN" sz="1000" b="1" dirty="0">
                <a:solidFill>
                  <a:schemeClr val="tx1"/>
                </a:solidFill>
              </a:rPr>
              <a:t>Bosch BNO055 9-DoF IMU:</a:t>
            </a:r>
            <a:r>
              <a:rPr lang="en-IN" sz="1000" dirty="0">
                <a:solidFill>
                  <a:schemeClr val="tx1"/>
                </a:solidFill>
              </a:rPr>
              <a:t> pitch / roll / yaw detection</a:t>
            </a:r>
          </a:p>
          <a:p>
            <a:pPr algn="just"/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ACBEB-0E25-A44D-361A-ED6DB5918C93}"/>
              </a:ext>
            </a:extLst>
          </p:cNvPr>
          <p:cNvSpPr/>
          <p:nvPr/>
        </p:nvSpPr>
        <p:spPr>
          <a:xfrm>
            <a:off x="2503416" y="915900"/>
            <a:ext cx="2908300" cy="2807098"/>
          </a:xfrm>
          <a:prstGeom prst="roundRect">
            <a:avLst/>
          </a:prstGeom>
          <a:solidFill>
            <a:srgbClr val="F6F2F9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en-IN" b="1" dirty="0">
                <a:solidFill>
                  <a:schemeClr val="tx1"/>
                </a:solidFill>
              </a:rPr>
              <a:t>RD-03D RADAR SENSOR</a:t>
            </a:r>
          </a:p>
          <a:p>
            <a:r>
              <a:rPr lang="en-IN" sz="1100" dirty="0">
                <a:solidFill>
                  <a:schemeClr val="tx1"/>
                </a:solidFill>
              </a:rPr>
              <a:t>RD-03D:24GHZ FMCW radar for human target detection and tracking </a:t>
            </a:r>
          </a:p>
          <a:p>
            <a:r>
              <a:rPr lang="en-IN" sz="1100" b="1" dirty="0">
                <a:solidFill>
                  <a:schemeClr val="tx1"/>
                </a:solidFill>
              </a:rPr>
              <a:t>Non-visual </a:t>
            </a:r>
            <a:r>
              <a:rPr lang="en-IN" sz="1100" dirty="0" err="1">
                <a:solidFill>
                  <a:schemeClr val="tx1"/>
                </a:solidFill>
              </a:rPr>
              <a:t>sensing:Operates</a:t>
            </a:r>
            <a:r>
              <a:rPr lang="en-IN" sz="1100" dirty="0">
                <a:solidFill>
                  <a:schemeClr val="tx1"/>
                </a:solidFill>
              </a:rPr>
              <a:t> when smoke/darkness limits camera visibility</a:t>
            </a:r>
          </a:p>
          <a:p>
            <a:r>
              <a:rPr lang="en-IN" sz="1100" b="1" dirty="0">
                <a:solidFill>
                  <a:schemeClr val="tx1"/>
                </a:solidFill>
              </a:rPr>
              <a:t>Target </a:t>
            </a:r>
            <a:r>
              <a:rPr lang="en-IN" sz="1100" dirty="0" err="1">
                <a:solidFill>
                  <a:schemeClr val="tx1"/>
                </a:solidFill>
              </a:rPr>
              <a:t>data:Distance,position,angle</a:t>
            </a:r>
            <a:r>
              <a:rPr lang="en-IN" sz="1100" dirty="0">
                <a:solidFill>
                  <a:schemeClr val="tx1"/>
                </a:solidFill>
              </a:rPr>
              <a:t> and motion and multi </a:t>
            </a:r>
            <a:r>
              <a:rPr lang="en-IN" sz="1100" dirty="0" err="1">
                <a:solidFill>
                  <a:schemeClr val="tx1"/>
                </a:solidFill>
              </a:rPr>
              <a:t>rarcks</a:t>
            </a:r>
            <a:r>
              <a:rPr lang="en-IN" sz="1100" dirty="0">
                <a:solidFill>
                  <a:schemeClr val="tx1"/>
                </a:solidFill>
              </a:rPr>
              <a:t> multiple targets in</a:t>
            </a:r>
          </a:p>
          <a:p>
            <a:r>
              <a:rPr lang="en-IN" sz="1100" dirty="0">
                <a:solidFill>
                  <a:schemeClr val="tx1"/>
                </a:solidFill>
              </a:rPr>
              <a:t>the sensing area</a:t>
            </a:r>
          </a:p>
          <a:p>
            <a:r>
              <a:rPr lang="en-IN" sz="1100" b="1" dirty="0">
                <a:solidFill>
                  <a:schemeClr val="tx1"/>
                </a:solidFill>
              </a:rPr>
              <a:t>Interface: UART</a:t>
            </a:r>
            <a:r>
              <a:rPr lang="en-IN" sz="1100" b="1" dirty="0">
                <a:solidFill>
                  <a:schemeClr val="tx1"/>
                </a:solidFill>
                <a:sym typeface="Wingdings" panose="05000000000000000000" pitchFamily="2" charset="2"/>
              </a:rPr>
              <a:t>STM32</a:t>
            </a:r>
          </a:p>
          <a:p>
            <a:r>
              <a:rPr lang="en-IN" sz="1100" b="1" dirty="0">
                <a:solidFill>
                  <a:schemeClr val="tx1"/>
                </a:solidFill>
                <a:sym typeface="Wingdings" panose="05000000000000000000" pitchFamily="2" charset="2"/>
              </a:rPr>
              <a:t>Purpose</a:t>
            </a:r>
            <a:r>
              <a:rPr lang="en-IN" sz="1100" dirty="0">
                <a:solidFill>
                  <a:schemeClr val="tx1"/>
                </a:solidFill>
                <a:sym typeface="Wingdings" panose="05000000000000000000" pitchFamily="2" charset="2"/>
              </a:rPr>
              <a:t>: Possible victim detection and communication decision support</a:t>
            </a:r>
            <a:endParaRPr lang="en-IN" sz="11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9355586-D138-D617-15FD-0759E94D3D38}"/>
                  </a:ext>
                </a:extLst>
              </p:cNvPr>
              <p:cNvSpPr/>
              <p:nvPr/>
            </p:nvSpPr>
            <p:spPr>
              <a:xfrm>
                <a:off x="5559552" y="924677"/>
                <a:ext cx="3089664" cy="2807098"/>
              </a:xfrm>
              <a:prstGeom prst="roundRect">
                <a:avLst/>
              </a:prstGeom>
              <a:solidFill>
                <a:srgbClr val="FDF3D7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just"/>
                <a:r>
                  <a:rPr lang="en-IN" b="1" dirty="0">
                    <a:solidFill>
                      <a:schemeClr val="tx1"/>
                    </a:solidFill>
                  </a:rPr>
                  <a:t>Drive &amp; Actuation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Motors:</a:t>
                </a:r>
                <a:r>
                  <a:rPr lang="en-IN" sz="1000" dirty="0">
                    <a:solidFill>
                      <a:schemeClr val="tx1"/>
                    </a:solidFill>
                  </a:rPr>
                  <a:t> Dual 12V DC gear motors, 300 RPM, 15 kg-cm torque, high-torque magnetic windings 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Drivers:</a:t>
                </a:r>
                <a:r>
                  <a:rPr lang="en-IN" sz="1000" dirty="0">
                    <a:solidFill>
                      <a:schemeClr val="tx1"/>
                    </a:solidFill>
                  </a:rPr>
                  <a:t> BTS7960 Industrial H-bridge motor drivers, 43A rated 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Traction:</a:t>
                </a:r>
                <a:r>
                  <a:rPr lang="en-IN" sz="1000" dirty="0">
                    <a:solidFill>
                      <a:schemeClr val="tx1"/>
                    </a:solidFill>
                  </a:rPr>
                  <a:t> Rubberized steel-reinforced tracks for rubble/debris terrain 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Feedback:</a:t>
                </a:r>
                <a:r>
                  <a:rPr lang="en-IN" sz="1000" dirty="0">
                    <a:solidFill>
                      <a:schemeClr val="tx1"/>
                    </a:solidFill>
                  </a:rPr>
                  <a:t> Closed-loop encoder feedback for odometry 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Auxiliary:</a:t>
                </a:r>
                <a:r>
                  <a:rPr lang="en-IN" sz="1000" dirty="0">
                    <a:solidFill>
                      <a:schemeClr val="tx1"/>
                    </a:solidFill>
                  </a:rPr>
                  <a:t> Servo motor for valve control (oxygen/pump) </a:t>
                </a:r>
              </a:p>
              <a:p>
                <a:pPr lvl="0" algn="just"/>
                <a:r>
                  <a:rPr lang="en-IN" sz="1000" b="1" dirty="0">
                    <a:solidFill>
                      <a:schemeClr val="tx1"/>
                    </a:solidFill>
                  </a:rPr>
                  <a:t>Flow:</a:t>
                </a:r>
                <a:r>
                  <a:rPr lang="en-IN" sz="1000" dirty="0">
                    <a:solidFill>
                      <a:schemeClr val="tx1"/>
                    </a:solidFill>
                  </a:rPr>
                  <a:t> Motors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H-Bridge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Tracks / Servo</a:t>
                </a:r>
              </a:p>
              <a:p>
                <a:pPr lvl="0" algn="just"/>
                <a:endParaRPr lang="en-IN" sz="1000" dirty="0">
                  <a:solidFill>
                    <a:schemeClr val="tx1"/>
                  </a:solidFill>
                </a:endParaRPr>
              </a:p>
              <a:p>
                <a:pPr lvl="0" algn="just"/>
                <a:endParaRPr lang="en-IN" sz="1000" dirty="0">
                  <a:solidFill>
                    <a:schemeClr val="tx1"/>
                  </a:solidFill>
                </a:endParaRPr>
              </a:p>
              <a:p>
                <a:pPr lvl="0" algn="just"/>
                <a:endParaRPr lang="en-IN" sz="1000" dirty="0">
                  <a:solidFill>
                    <a:schemeClr val="tx1"/>
                  </a:solidFill>
                </a:endParaRPr>
              </a:p>
              <a:p>
                <a:pPr lvl="0" algn="just"/>
                <a:endParaRPr lang="en-IN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9355586-D138-D617-15FD-0759E94D3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52" y="924677"/>
                <a:ext cx="3089664" cy="28070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E5293F8-AAE0-2BF8-1D2E-7DA81839B938}"/>
                  </a:ext>
                </a:extLst>
              </p:cNvPr>
              <p:cNvSpPr/>
              <p:nvPr/>
            </p:nvSpPr>
            <p:spPr>
              <a:xfrm>
                <a:off x="8797052" y="908063"/>
                <a:ext cx="3235383" cy="2807098"/>
              </a:xfrm>
              <a:prstGeom prst="roundRect">
                <a:avLst/>
              </a:prstGeom>
              <a:solidFill>
                <a:srgbClr val="EEE6F9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tx1"/>
                    </a:solidFill>
                  </a:rPr>
                  <a:t>Communication (Mesh + Video)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Sub-GHz LoRa (433 / 868 / 915 MHz):</a:t>
                </a:r>
                <a:r>
                  <a:rPr lang="en-IN" sz="1000" dirty="0">
                    <a:solidFill>
                      <a:schemeClr val="tx1"/>
                    </a:solidFill>
                  </a:rPr>
                  <a:t> Dedicated channel for low-data-rate telemetry (sensors, alerts, status)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Dual-Layer Communication Architecture:</a:t>
                </a:r>
                <a:r>
                  <a:rPr lang="en-IN" sz="1000" dirty="0">
                    <a:solidFill>
                      <a:schemeClr val="tx1"/>
                    </a:solidFill>
                  </a:rPr>
                  <a:t> Combines sub-GHz LoRa mesh for long-range, low-power telemetry and emergency alerts with broadband Wi-Fi for real-time video streaming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Video Pipeline:</a:t>
                </a:r>
                <a:r>
                  <a:rPr lang="en-IN" sz="1000" dirty="0">
                    <a:solidFill>
                      <a:schemeClr val="tx1"/>
                    </a:solidFill>
                  </a:rPr>
                  <a:t> Encodes HD video locally via NVIDIA Jetson Orin Nano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Network Topology:</a:t>
                </a:r>
                <a:r>
                  <a:rPr lang="en-IN" sz="1000" dirty="0">
                    <a:solidFill>
                      <a:schemeClr val="tx1"/>
                    </a:solidFill>
                  </a:rPr>
                  <a:t> Robot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Sub-GHz LoRa MESH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Relay Node(s)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Command Control (LoRa for data | Wi-Fi for video)</a:t>
                </a:r>
              </a:p>
              <a:p>
                <a:pPr lvl="0"/>
                <a:endParaRPr lang="en-IN" sz="1000" dirty="0">
                  <a:solidFill>
                    <a:schemeClr val="tx1"/>
                  </a:solidFill>
                </a:endParaRPr>
              </a:p>
              <a:p>
                <a:pPr lvl="0"/>
                <a:endParaRPr lang="en-IN" sz="1000" dirty="0">
                  <a:solidFill>
                    <a:schemeClr val="tx1"/>
                  </a:solidFill>
                </a:endParaRPr>
              </a:p>
              <a:p>
                <a:pPr lvl="0"/>
                <a:endParaRPr lang="en-IN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8E5293F8-AAE0-2BF8-1D2E-7DA81839B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052" y="908063"/>
                <a:ext cx="3235383" cy="280709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789ADA0-D400-690D-715E-99C7ACD6C1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1755" y="3865247"/>
                <a:ext cx="5894245" cy="2448786"/>
              </a:xfrm>
              <a:prstGeom prst="roundRect">
                <a:avLst/>
              </a:prstGeom>
              <a:solidFill>
                <a:srgbClr val="F7DDDB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r>
                  <a:rPr lang="en-IN" sz="1600" b="1" dirty="0">
                    <a:solidFill>
                      <a:schemeClr val="tx1"/>
                    </a:solidFill>
                  </a:rPr>
                  <a:t>Thermal Protection System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Front &amp; Top Shield:</a:t>
                </a:r>
                <a:r>
                  <a:rPr lang="en-IN" sz="1000" dirty="0">
                    <a:solidFill>
                      <a:schemeClr val="tx1"/>
                    </a:solidFill>
                  </a:rPr>
                  <a:t> High-performance ablative ceramic </a:t>
                </a:r>
                <a:r>
                  <a:rPr lang="en-IN" sz="1000" dirty="0" err="1">
                    <a:solidFill>
                      <a:schemeClr val="tx1"/>
                    </a:solidFill>
                  </a:rPr>
                  <a:t>fiber</a:t>
                </a:r>
                <a:r>
                  <a:rPr lang="en-IN" sz="1000" dirty="0">
                    <a:solidFill>
                      <a:schemeClr val="tx1"/>
                    </a:solidFill>
                  </a:rPr>
                  <a:t> shield rated for 800°C to 1000°C short-duration exposure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Chassis Armor &amp; Air-Gap:</a:t>
                </a:r>
                <a:r>
                  <a:rPr lang="en-IN" sz="1000" dirty="0">
                    <a:solidFill>
                      <a:schemeClr val="tx1"/>
                    </a:solidFill>
                  </a:rPr>
                  <a:t> Intumescent coating over structural </a:t>
                </a:r>
                <a:r>
                  <a:rPr lang="en-IN" sz="1000" dirty="0" err="1">
                    <a:solidFill>
                      <a:schemeClr val="tx1"/>
                    </a:solidFill>
                  </a:rPr>
                  <a:t>aluminum</a:t>
                </a:r>
                <a:r>
                  <a:rPr lang="en-IN" sz="1000" dirty="0">
                    <a:solidFill>
                      <a:schemeClr val="tx1"/>
                    </a:solidFill>
                  </a:rPr>
                  <a:t> </a:t>
                </a:r>
              </a:p>
              <a:p>
                <a:pPr lvl="0"/>
                <a:r>
                  <a:rPr lang="en-IN" sz="1000" dirty="0">
                    <a:solidFill>
                      <a:schemeClr val="tx1"/>
                    </a:solidFill>
                  </a:rPr>
                  <a:t>sub-frame with an air-gapped standoff mounting to block conductive heat </a:t>
                </a:r>
              </a:p>
              <a:p>
                <a:pPr lvl="0"/>
                <a:r>
                  <a:rPr lang="en-IN" sz="1000" dirty="0">
                    <a:solidFill>
                      <a:schemeClr val="tx1"/>
                    </a:solidFill>
                  </a:rPr>
                  <a:t>transfer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Internal Isolation:</a:t>
                </a:r>
                <a:r>
                  <a:rPr lang="en-IN" sz="1000" dirty="0">
                    <a:solidFill>
                      <a:schemeClr val="tx1"/>
                    </a:solidFill>
                  </a:rPr>
                  <a:t> Electronics and battery bays hermetically isolated to</a:t>
                </a:r>
              </a:p>
              <a:p>
                <a:pPr lvl="0"/>
                <a:r>
                  <a:rPr lang="en-IN" sz="1000" dirty="0">
                    <a:solidFill>
                      <a:schemeClr val="tx1"/>
                    </a:solidFill>
                  </a:rPr>
                  <a:t> maintain safe operating temperatures (below 85°C internal)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Active Exterior Cooling:</a:t>
                </a:r>
                <a:r>
                  <a:rPr lang="en-IN" sz="1000" dirty="0">
                    <a:solidFill>
                      <a:schemeClr val="tx1"/>
                    </a:solidFill>
                  </a:rPr>
                  <a:t> Integrated external micro-mist water loop leveraging</a:t>
                </a:r>
              </a:p>
              <a:p>
                <a:pPr lvl="0"/>
                <a:r>
                  <a:rPr lang="en-IN" sz="1000" dirty="0">
                    <a:solidFill>
                      <a:schemeClr val="tx1"/>
                    </a:solidFill>
                  </a:rPr>
                  <a:t> latent heat of vaporization for continuous 1-hour high-heat deployments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Standard Compliance:</a:t>
                </a:r>
                <a:r>
                  <a:rPr lang="en-IN" sz="1000" dirty="0">
                    <a:solidFill>
                      <a:schemeClr val="tx1"/>
                    </a:solidFill>
                  </a:rPr>
                  <a:t> Engineered and validated per NFPA 1971 and </a:t>
                </a:r>
              </a:p>
              <a:p>
                <a:pPr lvl="0"/>
                <a:r>
                  <a:rPr lang="en-IN" sz="1000" dirty="0">
                    <a:solidFill>
                      <a:schemeClr val="tx1"/>
                    </a:solidFill>
                  </a:rPr>
                  <a:t>MIL-STD-810G thermal-exposure benchmarks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Thermal Barrier Stack:</a:t>
                </a:r>
                <a:r>
                  <a:rPr lang="en-IN" sz="1000" dirty="0">
                    <a:solidFill>
                      <a:schemeClr val="tx1"/>
                    </a:solidFill>
                  </a:rPr>
                  <a:t> Ablative ceramic </a:t>
                </a:r>
                <a:r>
                  <a:rPr lang="en-IN" sz="1000" dirty="0" err="1">
                    <a:solidFill>
                      <a:schemeClr val="tx1"/>
                    </a:solidFill>
                  </a:rPr>
                  <a:t>fiber</a:t>
                </a:r>
                <a:r>
                  <a:rPr lang="en-IN" sz="1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Intumescent coating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Aluminium sub-frame</a:t>
                </a:r>
              </a:p>
              <a:p>
                <a:pPr algn="ctr"/>
                <a:endParaRPr lang="en-IN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789ADA0-D400-690D-715E-99C7ACD6C1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5" y="3865247"/>
                <a:ext cx="5894245" cy="244878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AD788F-4055-FF40-7A18-22C8F9A4BB6E}"/>
              </a:ext>
            </a:extLst>
          </p:cNvPr>
          <p:cNvSpPr/>
          <p:nvPr/>
        </p:nvSpPr>
        <p:spPr>
          <a:xfrm>
            <a:off x="6148808" y="3865247"/>
            <a:ext cx="3089664" cy="2448786"/>
          </a:xfrm>
          <a:prstGeom prst="roundRect">
            <a:avLst/>
          </a:prstGeom>
          <a:solidFill>
            <a:srgbClr val="E8F5E3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>
              <a:buNone/>
            </a:pPr>
            <a:r>
              <a:rPr lang="en-IN" b="1" dirty="0">
                <a:solidFill>
                  <a:schemeClr val="tx1"/>
                </a:solidFill>
                <a:effectLst/>
                <a:latin typeface="Google Sans"/>
              </a:rPr>
              <a:t>Chassis &amp; Enclosure</a:t>
            </a:r>
          </a:p>
          <a:p>
            <a:pPr marR="0" lvl="0"/>
            <a:r>
              <a:rPr lang="en-IN" sz="1000" b="1" dirty="0">
                <a:solidFill>
                  <a:schemeClr val="tx1"/>
                </a:solidFill>
                <a:effectLst/>
                <a:latin typeface="Google Sans Text"/>
              </a:rPr>
              <a:t>Rating:</a:t>
            </a:r>
            <a:r>
              <a:rPr lang="en-IN" sz="1000" dirty="0">
                <a:solidFill>
                  <a:schemeClr val="tx1"/>
                </a:solidFill>
                <a:effectLst/>
                <a:latin typeface="Google Sans Text"/>
              </a:rPr>
              <a:t> IP67-rated aluminium-ABS composite outer enclosure </a:t>
            </a:r>
          </a:p>
          <a:p>
            <a:pPr marR="0" lvl="0"/>
            <a:r>
              <a:rPr lang="en-IN" sz="1000" b="1" dirty="0">
                <a:solidFill>
                  <a:schemeClr val="tx1"/>
                </a:solidFill>
                <a:effectLst/>
                <a:latin typeface="Google Sans Text"/>
              </a:rPr>
              <a:t>Ruggedization:</a:t>
            </a:r>
            <a:r>
              <a:rPr lang="en-IN" sz="1000" dirty="0">
                <a:solidFill>
                  <a:schemeClr val="tx1"/>
                </a:solidFill>
                <a:effectLst/>
                <a:latin typeface="Google Sans Text"/>
              </a:rPr>
              <a:t> Vibration-dampened mounts, MIL-STD-810G inspired ruggedization </a:t>
            </a:r>
          </a:p>
          <a:p>
            <a:pPr marR="0" lvl="0"/>
            <a:r>
              <a:rPr lang="en-IN" sz="1000" b="1" dirty="0">
                <a:solidFill>
                  <a:schemeClr val="tx1"/>
                </a:solidFill>
                <a:effectLst/>
                <a:latin typeface="Google Sans Text"/>
              </a:rPr>
              <a:t>Underbody:</a:t>
            </a:r>
            <a:r>
              <a:rPr lang="en-IN" sz="1000" dirty="0">
                <a:solidFill>
                  <a:schemeClr val="tx1"/>
                </a:solidFill>
                <a:effectLst/>
                <a:latin typeface="Google Sans Text"/>
              </a:rPr>
              <a:t> Reinforced belly plate for rubble and collapsed-structure terrain </a:t>
            </a:r>
          </a:p>
          <a:p>
            <a:pPr marR="0" lvl="0"/>
            <a:r>
              <a:rPr lang="en-IN" sz="1000" b="1" dirty="0">
                <a:solidFill>
                  <a:schemeClr val="tx1"/>
                </a:solidFill>
                <a:effectLst/>
                <a:latin typeface="Google Sans Text"/>
              </a:rPr>
              <a:t>Modularity:</a:t>
            </a:r>
            <a:r>
              <a:rPr lang="en-IN" sz="1000" dirty="0">
                <a:solidFill>
                  <a:schemeClr val="tx1"/>
                </a:solidFill>
                <a:effectLst/>
                <a:latin typeface="Google Sans Text"/>
              </a:rPr>
              <a:t> Field-serviceable panels for rapid sensor/battery swap.</a:t>
            </a:r>
          </a:p>
          <a:p>
            <a:pPr marR="0" lvl="0"/>
            <a:endParaRPr lang="en-IN" sz="1000" dirty="0">
              <a:solidFill>
                <a:schemeClr val="tx1"/>
              </a:solidFill>
              <a:latin typeface="Google Sans Text"/>
            </a:endParaRPr>
          </a:p>
          <a:p>
            <a:pPr marR="0" lvl="0"/>
            <a:endParaRPr lang="en-IN" sz="1000" dirty="0">
              <a:solidFill>
                <a:schemeClr val="tx1"/>
              </a:solidFill>
              <a:effectLst/>
              <a:latin typeface="Google Sans Text"/>
            </a:endParaRPr>
          </a:p>
          <a:p>
            <a:pPr marR="0" lvl="0"/>
            <a:endParaRPr lang="en-IN" sz="1000" dirty="0">
              <a:solidFill>
                <a:schemeClr val="tx1"/>
              </a:solidFill>
              <a:latin typeface="Google Sans Text"/>
            </a:endParaRPr>
          </a:p>
          <a:p>
            <a:pPr marR="0" lvl="0"/>
            <a:endParaRPr lang="en-IN" sz="1000" dirty="0">
              <a:solidFill>
                <a:schemeClr val="tx1"/>
              </a:solidFill>
              <a:effectLst/>
              <a:latin typeface="Google Sans Text"/>
            </a:endParaRPr>
          </a:p>
          <a:p>
            <a:pPr marR="0" lvl="0"/>
            <a:endParaRPr lang="en-IN" sz="1000" dirty="0">
              <a:solidFill>
                <a:schemeClr val="tx1"/>
              </a:solidFill>
              <a:effectLst/>
              <a:latin typeface="Google Sans Tex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DC73D5-F72D-F423-A766-122A56642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829" y="5351605"/>
            <a:ext cx="877665" cy="868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F34B09D-49EE-4B54-4209-684D4F2498C3}"/>
                  </a:ext>
                </a:extLst>
              </p:cNvPr>
              <p:cNvSpPr/>
              <p:nvPr/>
            </p:nvSpPr>
            <p:spPr>
              <a:xfrm>
                <a:off x="9356337" y="3865248"/>
                <a:ext cx="2676098" cy="2448786"/>
              </a:xfrm>
              <a:prstGeom prst="roundRect">
                <a:avLst/>
              </a:prstGeom>
              <a:solidFill>
                <a:srgbClr val="E5EFF9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r>
                  <a:rPr lang="en-IN" b="1" dirty="0">
                    <a:solidFill>
                      <a:schemeClr val="tx1"/>
                    </a:solidFill>
                  </a:rPr>
                  <a:t>Software &amp; Autonomy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ROS 2 (Humble):</a:t>
                </a:r>
                <a:r>
                  <a:rPr lang="en-IN" sz="1000" dirty="0">
                    <a:solidFill>
                      <a:schemeClr val="tx1"/>
                    </a:solidFill>
                  </a:rPr>
                  <a:t> Distributed node graph across all hardware and processing modules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RTAB-Map SLAM:</a:t>
                </a:r>
                <a:r>
                  <a:rPr lang="en-IN" sz="1000" dirty="0">
                    <a:solidFill>
                      <a:schemeClr val="tx1"/>
                    </a:solidFill>
                  </a:rPr>
                  <a:t> Real-time mapping and localization in low-visibility conditions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Operator Dashboard:</a:t>
                </a:r>
                <a:r>
                  <a:rPr lang="en-IN" sz="1000" dirty="0">
                    <a:solidFill>
                      <a:schemeClr val="tx1"/>
                    </a:solidFill>
                  </a:rPr>
                  <a:t> Live video, telemetry stream, and manual override via WebRTC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Safety Overrides:</a:t>
                </a:r>
                <a:r>
                  <a:rPr lang="en-IN" sz="1000" dirty="0">
                    <a:solidFill>
                      <a:schemeClr val="tx1"/>
                    </a:solidFill>
                  </a:rPr>
                  <a:t> Autonomous safe-stop triggers based on thermal, hazardous gas, or IMU tip-over thresholds </a:t>
                </a:r>
              </a:p>
              <a:p>
                <a:pPr lvl="0"/>
                <a:r>
                  <a:rPr lang="en-IN" sz="1000" b="1" dirty="0">
                    <a:solidFill>
                      <a:schemeClr val="tx1"/>
                    </a:solidFill>
                  </a:rPr>
                  <a:t>Data Flow:</a:t>
                </a:r>
                <a:r>
                  <a:rPr lang="en-IN" sz="1000" dirty="0">
                    <a:solidFill>
                      <a:schemeClr val="tx1"/>
                    </a:solidFill>
                  </a:rPr>
                  <a:t> Sensors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SLAM (RTAB-Map)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Navigation (ROS 2 / Nav2) </a:t>
                </a:r>
                <a14:m>
                  <m:oMath xmlns:m="http://schemas.openxmlformats.org/officeDocument/2006/math">
                    <m:r>
                      <a:rPr lang="en-IN" sz="1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000" dirty="0">
                    <a:solidFill>
                      <a:schemeClr val="tx1"/>
                    </a:solidFill>
                  </a:rPr>
                  <a:t>Dashboard (WebRTC)</a:t>
                </a: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F34B09D-49EE-4B54-4209-684D4F249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337" y="3865248"/>
                <a:ext cx="2676098" cy="244878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 1" descr="sih_logo.png">
            <a:extLst>
              <a:ext uri="{FF2B5EF4-FFF2-40B4-BE49-F238E27FC236}">
                <a16:creationId xmlns:a16="http://schemas.microsoft.com/office/drawing/2014/main" id="{AFDB8633-A7DD-EE3E-BA60-B3339673D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137160"/>
            <a:ext cx="1417320" cy="5303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609257-69FB-B72B-431D-B5D848EA73BD}"/>
              </a:ext>
            </a:extLst>
          </p:cNvPr>
          <p:cNvSpPr txBox="1"/>
          <p:nvPr/>
        </p:nvSpPr>
        <p:spPr>
          <a:xfrm>
            <a:off x="1992618" y="-18027"/>
            <a:ext cx="7848746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dirty="0"/>
              <a:t>FIREFIGHTER 	</a:t>
            </a:r>
            <a:r>
              <a:rPr lang="en-US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COMMUNICATION-AWARE SEARCH ROVER 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-</a:t>
            </a:r>
            <a:r>
              <a:rPr lang="en-US" b="1" dirty="0"/>
              <a:t>SYSTEM ARCHITECTURE</a:t>
            </a:r>
          </a:p>
          <a:p>
            <a:pPr algn="ctr"/>
            <a:r>
              <a:rPr lang="en-US" dirty="0"/>
              <a:t>Sub-GHz LoRa Mesh Communication | Safe &amp; Reliable Rescue Operations</a:t>
            </a:r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9099F1B-6FAF-04FB-7ADD-180B02E9C9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6991" y="3065155"/>
            <a:ext cx="2224282" cy="6500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0E99B54-9A83-1932-AC7B-4DA60275BE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4813" y="2982578"/>
            <a:ext cx="1721407" cy="71606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62813FD-DEFA-AE5F-5F77-E6E47EE41D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5466" y="4490228"/>
            <a:ext cx="1544902" cy="1365411"/>
          </a:xfrm>
          <a:prstGeom prst="rect">
            <a:avLst/>
          </a:prstGeom>
        </p:spPr>
      </p:pic>
      <p:sp>
        <p:nvSpPr>
          <p:cNvPr id="44" name="Shape 1">
            <a:extLst>
              <a:ext uri="{FF2B5EF4-FFF2-40B4-BE49-F238E27FC236}">
                <a16:creationId xmlns:a16="http://schemas.microsoft.com/office/drawing/2014/main" id="{3E72BE7B-6B0B-F876-C270-A91F48E2CB49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CFA1CB2C-E5B6-ACEA-BB85-3D2EF2EECE05}"/>
              </a:ext>
            </a:extLst>
          </p:cNvPr>
          <p:cNvSpPr txBox="1"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18027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DEEPNEX</a:t>
            </a:r>
          </a:p>
        </p:txBody>
      </p:sp>
    </p:spTree>
    <p:extLst>
      <p:ext uri="{BB962C8B-B14F-4D97-AF65-F5344CB8AC3E}">
        <p14:creationId xmlns:p14="http://schemas.microsoft.com/office/powerpoint/2010/main" val="190110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1539875" y="241100"/>
            <a:ext cx="113792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2400" dirty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ROVER DESIGN: RISK MITIGATION &amp; SYSTEM CONSTRAINTS</a:t>
            </a:r>
            <a:endParaRPr sz="2400" dirty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406400" y="839638"/>
            <a:ext cx="5537200" cy="2794000"/>
            <a:chOff x="0" y="0"/>
            <a:chExt cx="4152900" cy="2095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41529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0"/>
              <a:ext cx="4152900" cy="266700"/>
            </a:xfrm>
            <a:prstGeom prst="roundRect">
              <a:avLst>
                <a:gd name="adj" fmla="val 21428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0" y="209550"/>
              <a:ext cx="4152900" cy="57300"/>
            </a:xfrm>
            <a:prstGeom prst="rect">
              <a:avLst/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60" name="Google Shape;60;p14"/>
            <p:cNvCxnSpPr/>
            <p:nvPr/>
          </p:nvCxnSpPr>
          <p:spPr>
            <a:xfrm>
              <a:off x="0" y="266700"/>
              <a:ext cx="4152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CA5A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1" name="Google Shape;61;p14"/>
            <p:cNvSpPr txBox="1"/>
            <p:nvPr/>
          </p:nvSpPr>
          <p:spPr>
            <a:xfrm>
              <a:off x="114300" y="5715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1. Thermal &amp; Environmental Constraints</a:t>
              </a:r>
              <a:endParaRPr sz="1400" b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14300" y="342900"/>
              <a:ext cx="3924300" cy="190500"/>
            </a:xfrm>
            <a:prstGeom prst="roundRect">
              <a:avLst>
                <a:gd name="adj" fmla="val 15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171450" y="381000"/>
              <a:ext cx="1524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PROBLEM</a:t>
              </a:r>
              <a:endParaRPr sz="1067" b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1752600" y="381000"/>
              <a:ext cx="222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ENGINEERING SOLUTION</a:t>
              </a:r>
              <a:endParaRPr sz="1067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65" name="Google Shape;65;p14"/>
            <p:cNvCxnSpPr/>
            <p:nvPr/>
          </p:nvCxnSpPr>
          <p:spPr>
            <a:xfrm>
              <a:off x="114300" y="571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" name="Google Shape;66;p14"/>
            <p:cNvSpPr/>
            <p:nvPr/>
          </p:nvSpPr>
          <p:spPr>
            <a:xfrm>
              <a:off x="114300" y="609600"/>
              <a:ext cx="3924300" cy="685800"/>
            </a:xfrm>
            <a:prstGeom prst="roundRect">
              <a:avLst>
                <a:gd name="adj" fmla="val 5555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71450" y="647700"/>
              <a:ext cx="1485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Cooling Depletion:</a:t>
              </a:r>
              <a:r>
                <a:rPr lang="en" sz="1000" dirty="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1-hr active mist loop runs dry during extended rescue; internal temp risks exceeding 85°C limit.</a:t>
              </a:r>
              <a:endParaRPr sz="1000" dirty="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752600" y="647700"/>
              <a:ext cx="2229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ROS 2 autonomous Return to Base (RTL) override triggers instantly when mist reservoir hits 20% capacity.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69" name="Google Shape;69;p14"/>
            <p:cNvCxnSpPr/>
            <p:nvPr/>
          </p:nvCxnSpPr>
          <p:spPr>
            <a:xfrm>
              <a:off x="114300" y="1333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0" name="Google Shape;70;p14"/>
            <p:cNvSpPr/>
            <p:nvPr/>
          </p:nvSpPr>
          <p:spPr>
            <a:xfrm>
              <a:off x="114300" y="1371600"/>
              <a:ext cx="3924300" cy="647700"/>
            </a:xfrm>
            <a:prstGeom prst="roundRect">
              <a:avLst>
                <a:gd name="adj" fmla="val 5882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171450" y="1409700"/>
              <a:ext cx="14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Armor Degradation: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Ablative ceramic fiber &amp; intumescent coatings off-gas/degrade after 800°C+ flame exposure.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752600" y="1409700"/>
              <a:ext cx="22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Quick-release, field-replaceable modular shell plates; log heat-exposure hours for maintenance.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6258560" y="839638"/>
            <a:ext cx="5537200" cy="2794000"/>
            <a:chOff x="0" y="0"/>
            <a:chExt cx="4152900" cy="2095500"/>
          </a:xfrm>
        </p:grpSpPr>
        <p:sp>
          <p:nvSpPr>
            <p:cNvPr id="74" name="Google Shape;74;p14"/>
            <p:cNvSpPr/>
            <p:nvPr/>
          </p:nvSpPr>
          <p:spPr>
            <a:xfrm>
              <a:off x="0" y="0"/>
              <a:ext cx="41529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0" y="0"/>
              <a:ext cx="4152900" cy="266700"/>
            </a:xfrm>
            <a:prstGeom prst="roundRect">
              <a:avLst>
                <a:gd name="adj" fmla="val 21428"/>
              </a:avLst>
            </a:prstGeom>
            <a:solidFill>
              <a:srgbClr val="FFFB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0" y="209550"/>
              <a:ext cx="4152900" cy="57300"/>
            </a:xfrm>
            <a:prstGeom prst="rect">
              <a:avLst/>
            </a:prstGeom>
            <a:solidFill>
              <a:srgbClr val="FFFB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77" name="Google Shape;77;p14"/>
            <p:cNvCxnSpPr/>
            <p:nvPr/>
          </p:nvCxnSpPr>
          <p:spPr>
            <a:xfrm>
              <a:off x="0" y="266700"/>
              <a:ext cx="4152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FDE68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8" name="Google Shape;78;p14"/>
            <p:cNvSpPr txBox="1"/>
            <p:nvPr/>
          </p:nvSpPr>
          <p:spPr>
            <a:xfrm>
              <a:off x="114300" y="5715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>
                  <a:solidFill>
                    <a:srgbClr val="92400E"/>
                  </a:solidFill>
                  <a:latin typeface="Inter"/>
                  <a:ea typeface="Inter"/>
                  <a:cs typeface="Inter"/>
                  <a:sym typeface="Inter"/>
                </a:rPr>
                <a:t>2. Mobility &amp; Mechanical Hazards</a:t>
              </a:r>
              <a:endParaRPr sz="1400" b="1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14300" y="342900"/>
              <a:ext cx="3924300" cy="190500"/>
            </a:xfrm>
            <a:prstGeom prst="roundRect">
              <a:avLst>
                <a:gd name="adj" fmla="val 15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171450" y="381000"/>
              <a:ext cx="1524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PROBLEM</a:t>
              </a:r>
              <a:endParaRPr sz="1067" b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1752600" y="381000"/>
              <a:ext cx="222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ENGINEERING SOLUTION</a:t>
              </a:r>
              <a:endParaRPr sz="1067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2" name="Google Shape;82;p14"/>
            <p:cNvCxnSpPr/>
            <p:nvPr/>
          </p:nvCxnSpPr>
          <p:spPr>
            <a:xfrm>
              <a:off x="114300" y="571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3" name="Google Shape;83;p14"/>
            <p:cNvSpPr/>
            <p:nvPr/>
          </p:nvSpPr>
          <p:spPr>
            <a:xfrm>
              <a:off x="114300" y="609600"/>
              <a:ext cx="3924300" cy="685800"/>
            </a:xfrm>
            <a:prstGeom prst="roundRect">
              <a:avLst>
                <a:gd name="adj" fmla="val 5555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171450" y="647700"/>
              <a:ext cx="1485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Debris Jamming: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Wheels and rocker-bogie linkages tangle in rebar, structural wire, or melted plastics.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1752600" y="647700"/>
              <a:ext cx="2229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Current-spike monitoring on BTS7960 drivers; auto-executes low-speed reverse-and-wiggle on stall.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6" name="Google Shape;86;p14"/>
            <p:cNvCxnSpPr/>
            <p:nvPr/>
          </p:nvCxnSpPr>
          <p:spPr>
            <a:xfrm>
              <a:off x="114300" y="1333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7" name="Google Shape;87;p14"/>
            <p:cNvSpPr/>
            <p:nvPr/>
          </p:nvSpPr>
          <p:spPr>
            <a:xfrm>
              <a:off x="114300" y="1371600"/>
              <a:ext cx="3924300" cy="647700"/>
            </a:xfrm>
            <a:prstGeom prst="roundRect">
              <a:avLst>
                <a:gd name="adj" fmla="val 5882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171450" y="1409700"/>
              <a:ext cx="14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High-Centering / Rollover:</a:t>
              </a:r>
              <a:r>
                <a:rPr lang="en" sz="1000" dirty="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Climbing rubble exceeding rocker-bogie articulation limits risks tip-over.</a:t>
              </a:r>
              <a:endParaRPr sz="1000" dirty="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1752600" y="1409700"/>
              <a:ext cx="22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Bosch BNO055 IMU pitch/roll monitoring; hard stop &amp; operator alert if tilt exceeds critical threshold (&gt;35°).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4"/>
          <p:cNvGrpSpPr/>
          <p:nvPr/>
        </p:nvGrpSpPr>
        <p:grpSpPr>
          <a:xfrm>
            <a:off x="406400" y="3678447"/>
            <a:ext cx="5537200" cy="2794000"/>
            <a:chOff x="0" y="0"/>
            <a:chExt cx="4152900" cy="2095500"/>
          </a:xfrm>
        </p:grpSpPr>
        <p:sp>
          <p:nvSpPr>
            <p:cNvPr id="91" name="Google Shape;91;p14"/>
            <p:cNvSpPr/>
            <p:nvPr/>
          </p:nvSpPr>
          <p:spPr>
            <a:xfrm>
              <a:off x="0" y="0"/>
              <a:ext cx="41529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0" y="0"/>
              <a:ext cx="4152900" cy="266700"/>
            </a:xfrm>
            <a:prstGeom prst="roundRect">
              <a:avLst>
                <a:gd name="adj" fmla="val 21428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0" y="209550"/>
              <a:ext cx="4152900" cy="573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94" name="Google Shape;94;p14"/>
            <p:cNvCxnSpPr/>
            <p:nvPr/>
          </p:nvCxnSpPr>
          <p:spPr>
            <a:xfrm>
              <a:off x="0" y="266700"/>
              <a:ext cx="4152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95;p14"/>
            <p:cNvSpPr txBox="1"/>
            <p:nvPr/>
          </p:nvSpPr>
          <p:spPr>
            <a:xfrm>
              <a:off x="114300" y="5715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3. Communication &amp; Telemetry Drops</a:t>
              </a:r>
              <a:endParaRPr sz="1400" b="1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14300" y="342900"/>
              <a:ext cx="3924300" cy="190500"/>
            </a:xfrm>
            <a:prstGeom prst="roundRect">
              <a:avLst>
                <a:gd name="adj" fmla="val 15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71450" y="381000"/>
              <a:ext cx="1524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PROBLEM</a:t>
              </a:r>
              <a:endParaRPr sz="1067" b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752600" y="381000"/>
              <a:ext cx="222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ENGINEERING SOLUTION</a:t>
              </a:r>
              <a:endParaRPr sz="1067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9" name="Google Shape;99;p14"/>
            <p:cNvCxnSpPr/>
            <p:nvPr/>
          </p:nvCxnSpPr>
          <p:spPr>
            <a:xfrm>
              <a:off x="114300" y="571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0" name="Google Shape;100;p14"/>
            <p:cNvSpPr/>
            <p:nvPr/>
          </p:nvSpPr>
          <p:spPr>
            <a:xfrm>
              <a:off x="114300" y="609600"/>
              <a:ext cx="3924300" cy="685800"/>
            </a:xfrm>
            <a:prstGeom prst="roundRect">
              <a:avLst>
                <a:gd name="adj" fmla="val 5555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71450" y="647700"/>
              <a:ext cx="1485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Wi-Fi Loss: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High-bandwidth video fails inside steel/concrete structures due to Faraday cage attenuation.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752600" y="647700"/>
              <a:ext cx="2229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Fallback to Sub-GHz LoRa mesh; sends telemetry &amp; compressed YOLOv8 human detection bounding-box snapshots.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114300" y="1333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4" name="Google Shape;104;p14"/>
            <p:cNvSpPr/>
            <p:nvPr/>
          </p:nvSpPr>
          <p:spPr>
            <a:xfrm>
              <a:off x="114300" y="1371600"/>
              <a:ext cx="3924300" cy="647700"/>
            </a:xfrm>
            <a:prstGeom prst="roundRect">
              <a:avLst>
                <a:gd name="adj" fmla="val 5882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171450" y="1409700"/>
              <a:ext cx="14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Mesh Fragmentation: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Distance to base stretches beyond signal penetration limits.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752600" y="1409700"/>
              <a:ext cx="22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Auto-deploy physical LoRa relay nodes ("breadcrumbs") onto ground when RSSI drops below safe threshold.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6248400" y="3633638"/>
            <a:ext cx="5537200" cy="2794000"/>
            <a:chOff x="0" y="0"/>
            <a:chExt cx="4152900" cy="2095500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41529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0" y="0"/>
              <a:ext cx="4152900" cy="266700"/>
            </a:xfrm>
            <a:prstGeom prst="roundRect">
              <a:avLst>
                <a:gd name="adj" fmla="val 21428"/>
              </a:avLst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0" y="209550"/>
              <a:ext cx="4152900" cy="57300"/>
            </a:xfrm>
            <a:prstGeom prst="rect">
              <a:avLst/>
            </a:prstGeom>
            <a:solidFill>
              <a:srgbClr val="F3E8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11" name="Google Shape;111;p14"/>
            <p:cNvCxnSpPr/>
            <p:nvPr/>
          </p:nvCxnSpPr>
          <p:spPr>
            <a:xfrm>
              <a:off x="0" y="266700"/>
              <a:ext cx="41529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9D5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" name="Google Shape;112;p14"/>
            <p:cNvSpPr txBox="1"/>
            <p:nvPr/>
          </p:nvSpPr>
          <p:spPr>
            <a:xfrm>
              <a:off x="114300" y="57150"/>
              <a:ext cx="3924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>
                  <a:solidFill>
                    <a:srgbClr val="6B21A8"/>
                  </a:solidFill>
                  <a:latin typeface="Inter"/>
                  <a:ea typeface="Inter"/>
                  <a:cs typeface="Inter"/>
                  <a:sym typeface="Inter"/>
                </a:rPr>
                <a:t>4. Sensor Blindness &amp; AI Degradation</a:t>
              </a:r>
              <a:endParaRPr sz="1400" b="1">
                <a:solidFill>
                  <a:srgbClr val="6B21A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114300" y="342900"/>
              <a:ext cx="3924300" cy="190500"/>
            </a:xfrm>
            <a:prstGeom prst="roundRect">
              <a:avLst>
                <a:gd name="adj" fmla="val 15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71450" y="381000"/>
              <a:ext cx="1524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PROBLEM</a:t>
              </a:r>
              <a:endParaRPr sz="1067" b="1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1752600" y="381000"/>
              <a:ext cx="222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067" b="1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ENGINEERING SOLUTION</a:t>
              </a:r>
              <a:endParaRPr sz="1067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6" name="Google Shape;116;p14"/>
            <p:cNvCxnSpPr/>
            <p:nvPr/>
          </p:nvCxnSpPr>
          <p:spPr>
            <a:xfrm>
              <a:off x="114300" y="571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114300" y="609600"/>
              <a:ext cx="3924300" cy="685800"/>
            </a:xfrm>
            <a:prstGeom prst="roundRect">
              <a:avLst>
                <a:gd name="adj" fmla="val 5555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171450" y="647700"/>
              <a:ext cx="1485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Soot Obscuration: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Optical &amp; thermal lenses coated in soot, blinding edge AI person detection.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1752600" y="647700"/>
              <a:ext cx="2229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Recess cameras in housing + integrate CO2 cartridge pressurized air-purge nozzle for periodic lens clearing.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20" name="Google Shape;120;p14"/>
            <p:cNvCxnSpPr/>
            <p:nvPr/>
          </p:nvCxnSpPr>
          <p:spPr>
            <a:xfrm>
              <a:off x="114300" y="13335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114300" y="1371600"/>
              <a:ext cx="3924300" cy="647700"/>
            </a:xfrm>
            <a:prstGeom prst="roundRect">
              <a:avLst>
                <a:gd name="adj" fmla="val 5882"/>
              </a:avLst>
            </a:prstGeom>
            <a:solidFill>
              <a:srgbClr val="FAFA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4"/>
            <p:cNvSpPr txBox="1"/>
            <p:nvPr/>
          </p:nvSpPr>
          <p:spPr>
            <a:xfrm>
              <a:off x="171450" y="1409700"/>
              <a:ext cx="14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Depth Camera Failure:</a:t>
              </a:r>
              <a:r>
                <a:rPr lang="en" sz="10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Smoke scatters IR dots on RealSense D435i, causing "phantom" walls.</a:t>
              </a:r>
              <a:endParaRPr sz="10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1752600" y="1409700"/>
              <a:ext cx="22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Lower optical depth trust weight when MQ-7/BME680 detect dense smoke; rely on ultrasonic sensors.</a:t>
              </a:r>
              <a:endParaRPr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" name="Image 1" descr="sih_logo.png">
            <a:extLst>
              <a:ext uri="{FF2B5EF4-FFF2-40B4-BE49-F238E27FC236}">
                <a16:creationId xmlns:a16="http://schemas.microsoft.com/office/drawing/2014/main" id="{1593704B-5540-C67B-349B-755CB2CA8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37160"/>
            <a:ext cx="1417320" cy="530352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5C2EE699-4019-6A7E-8F45-92A7FFC9A84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5B3B095-2E6A-E096-D14F-BA3413BA61D1}"/>
              </a:ext>
            </a:extLst>
          </p:cNvPr>
          <p:cNvSpPr txBox="1"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4" name="Oval 12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292" y="5466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DEEPNEX</a:t>
            </a:r>
          </a:p>
        </p:txBody>
      </p:sp>
    </p:spTree>
    <p:extLst>
      <p:ext uri="{BB962C8B-B14F-4D97-AF65-F5344CB8AC3E}">
        <p14:creationId xmlns:p14="http://schemas.microsoft.com/office/powerpoint/2010/main" val="136793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19672"/>
            <a:ext cx="12191999" cy="338328"/>
          </a:xfrm>
          <a:prstGeom prst="rect">
            <a:avLst/>
          </a:prstGeom>
          <a:solidFill>
            <a:srgbClr val="00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54680" y="73152"/>
            <a:ext cx="5852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A0A0A"/>
                </a:solidFill>
                <a:latin typeface="Arial"/>
              </a:rPr>
              <a:t>IMPACT AND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07" y="1618487"/>
            <a:ext cx="63093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/>
              </a:rPr>
              <a:t>IMPACT AND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287" y="1426051"/>
            <a:ext cx="1425882" cy="728562"/>
          </a:xfrm>
          <a:prstGeom prst="rect">
            <a:avLst/>
          </a:prstGeom>
          <a:solidFill>
            <a:srgbClr val="9DCFE7"/>
          </a:solidFill>
          <a:ln w="8890">
            <a:solidFill>
              <a:srgbClr val="50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04719" y="1469330"/>
            <a:ext cx="1357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91E"/>
                </a:solidFill>
                <a:latin typeface="Arial"/>
              </a:rPr>
              <a:t>Aspect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4359" y="1426051"/>
            <a:ext cx="2794728" cy="728562"/>
          </a:xfrm>
          <a:prstGeom prst="rect">
            <a:avLst/>
          </a:prstGeom>
          <a:solidFill>
            <a:srgbClr val="9DCFE7"/>
          </a:solidFill>
          <a:ln w="8890">
            <a:solidFill>
              <a:srgbClr val="50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1747719" y="1469330"/>
            <a:ext cx="284035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F191E"/>
                </a:solidFill>
                <a:latin typeface="Arial"/>
              </a:rPr>
              <a:t>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8795" y="1426051"/>
            <a:ext cx="2692012" cy="728562"/>
          </a:xfrm>
          <a:prstGeom prst="rect">
            <a:avLst/>
          </a:prstGeom>
          <a:solidFill>
            <a:srgbClr val="9DCFE7"/>
          </a:solidFill>
          <a:ln w="8890">
            <a:solidFill>
              <a:srgbClr val="50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4079439" y="1469330"/>
            <a:ext cx="284035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F191E"/>
                </a:solidFill>
                <a:latin typeface="Arial"/>
              </a:rPr>
              <a:t>After (Solution)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287" y="1819243"/>
            <a:ext cx="1425882" cy="1152144"/>
          </a:xfrm>
          <a:prstGeom prst="rect">
            <a:avLst/>
          </a:prstGeom>
          <a:solidFill>
            <a:srgbClr val="D6EB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23007" y="2098057"/>
            <a:ext cx="131181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Crew Safety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4359" y="1819243"/>
            <a:ext cx="2794728" cy="1152144"/>
          </a:xfrm>
          <a:prstGeom prst="rect">
            <a:avLst/>
          </a:prstGeom>
          <a:solidFill>
            <a:srgbClr val="F7EFDE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1679841" y="1949043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Firefighters enter hazardous
areas without prior visibility.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8795" y="1819243"/>
            <a:ext cx="2692012" cy="1152144"/>
          </a:xfrm>
          <a:prstGeom prst="rect">
            <a:avLst/>
          </a:prstGeom>
          <a:solidFill>
            <a:srgbClr val="E6DF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4147916" y="1994623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Remote robot checks dangerous
areas before crew entry.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287" y="2441035"/>
            <a:ext cx="1425882" cy="1152144"/>
          </a:xfrm>
          <a:prstGeom prst="rect">
            <a:avLst/>
          </a:prstGeom>
          <a:solidFill>
            <a:srgbClr val="D6EB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512661" y="2710693"/>
            <a:ext cx="137237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41414"/>
                </a:solidFill>
                <a:latin typeface="Arial"/>
              </a:rPr>
              <a:t>Communication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4359" y="2441035"/>
            <a:ext cx="2794728" cy="1152144"/>
          </a:xfrm>
          <a:prstGeom prst="rect">
            <a:avLst/>
          </a:prstGeom>
          <a:solidFill>
            <a:srgbClr val="F7EFDE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1694171" y="2627515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Radio contact may be lost in
bad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8795" y="2441035"/>
            <a:ext cx="2692012" cy="1152144"/>
          </a:xfrm>
          <a:prstGeom prst="rect">
            <a:avLst/>
          </a:prstGeom>
          <a:solidFill>
            <a:srgbClr val="E6DF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4151240" y="2619567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Hazard information reaches
command from affected areas.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287" y="3062827"/>
            <a:ext cx="1425882" cy="1152144"/>
          </a:xfrm>
          <a:prstGeom prst="rect">
            <a:avLst/>
          </a:prstGeom>
          <a:solidFill>
            <a:srgbClr val="D6EB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623007" y="3249307"/>
            <a:ext cx="131181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Hazard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4359" y="3062827"/>
            <a:ext cx="2794728" cy="1152144"/>
          </a:xfrm>
          <a:prstGeom prst="rect">
            <a:avLst/>
          </a:prstGeom>
          <a:solidFill>
            <a:srgbClr val="F7EFDE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1694171" y="3184157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Gas and collapse risks are
identified manually.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8795" y="3062827"/>
            <a:ext cx="2692012" cy="1152144"/>
          </a:xfrm>
          <a:prstGeom prst="rect">
            <a:avLst/>
          </a:prstGeom>
          <a:solidFill>
            <a:srgbClr val="E6DF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4159716" y="3222674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Robot provides early hazard
information before entry.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287" y="3684619"/>
            <a:ext cx="1425882" cy="1152144"/>
          </a:xfrm>
          <a:prstGeom prst="rect">
            <a:avLst/>
          </a:prstGeom>
          <a:solidFill>
            <a:srgbClr val="D6EB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6" name="TextBox 35"/>
          <p:cNvSpPr txBox="1"/>
          <p:nvPr/>
        </p:nvSpPr>
        <p:spPr>
          <a:xfrm>
            <a:off x="566300" y="3824921"/>
            <a:ext cx="131181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41414"/>
                </a:solidFill>
                <a:latin typeface="Arial"/>
              </a:rPr>
              <a:t>Victim Identification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4359" y="3684619"/>
            <a:ext cx="2794728" cy="1152144"/>
          </a:xfrm>
          <a:prstGeom prst="rect">
            <a:avLst/>
          </a:prstGeom>
          <a:solidFill>
            <a:srgbClr val="F7EFDE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TextBox 37"/>
          <p:cNvSpPr txBox="1"/>
          <p:nvPr/>
        </p:nvSpPr>
        <p:spPr>
          <a:xfrm>
            <a:off x="1703315" y="3821107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Manual search is slow and
uncertain.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8795" y="3684619"/>
            <a:ext cx="2692012" cy="1152144"/>
          </a:xfrm>
          <a:prstGeom prst="rect">
            <a:avLst/>
          </a:prstGeom>
          <a:solidFill>
            <a:srgbClr val="E6DF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0" name="TextBox 39"/>
          <p:cNvSpPr txBox="1"/>
          <p:nvPr/>
        </p:nvSpPr>
        <p:spPr>
          <a:xfrm>
            <a:off x="4147916" y="3816010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AI-assisted detection helps
identify victims faster.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7287" y="4306411"/>
            <a:ext cx="1425882" cy="1152144"/>
          </a:xfrm>
          <a:prstGeom prst="rect">
            <a:avLst/>
          </a:prstGeom>
          <a:solidFill>
            <a:srgbClr val="D6EB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2" name="TextBox 41"/>
          <p:cNvSpPr txBox="1"/>
          <p:nvPr/>
        </p:nvSpPr>
        <p:spPr>
          <a:xfrm>
            <a:off x="566300" y="4569706"/>
            <a:ext cx="131181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41414"/>
                </a:solidFill>
                <a:latin typeface="Arial"/>
              </a:rPr>
              <a:t>Resource Deployment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4359" y="4306411"/>
            <a:ext cx="2794728" cy="1152144"/>
          </a:xfrm>
          <a:prstGeom prst="rect">
            <a:avLst/>
          </a:prstGeom>
          <a:solidFill>
            <a:srgbClr val="F7EFDE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4" name="TextBox 43"/>
          <p:cNvSpPr txBox="1"/>
          <p:nvPr/>
        </p:nvSpPr>
        <p:spPr>
          <a:xfrm>
            <a:off x="1653084" y="4597365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Arial"/>
              </a:rPr>
              <a:t>Crews are deployed without
complete scene information.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8795" y="4306411"/>
            <a:ext cx="2692011" cy="1152144"/>
          </a:xfrm>
          <a:prstGeom prst="rect">
            <a:avLst/>
          </a:prstGeom>
          <a:solidFill>
            <a:srgbClr val="E6DFF4"/>
          </a:solidFill>
          <a:ln w="8890">
            <a:solidFill>
              <a:srgbClr val="B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6" name="TextBox 45"/>
          <p:cNvSpPr txBox="1"/>
          <p:nvPr/>
        </p:nvSpPr>
        <p:spPr>
          <a:xfrm>
            <a:off x="4188322" y="4569706"/>
            <a:ext cx="279472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rial"/>
              </a:rPr>
              <a:t>Teams are deployed based on
information collected by the robot.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42631" y="1332346"/>
            <a:ext cx="2243327" cy="1487092"/>
          </a:xfrm>
          <a:prstGeom prst="roundRect">
            <a:avLst/>
          </a:prstGeom>
          <a:solidFill>
            <a:srgbClr val="D8F7FF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7422975" y="1357737"/>
            <a:ext cx="208043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141414"/>
                </a:solidFill>
                <a:latin typeface="Arial"/>
              </a:rPr>
              <a:t>Societal </a:t>
            </a:r>
            <a:r>
              <a:rPr lang="en-US" sz="1050" b="1" dirty="0">
                <a:solidFill>
                  <a:srgbClr val="141414"/>
                </a:solidFill>
                <a:latin typeface="Arial"/>
              </a:rPr>
              <a:t>and Economic </a:t>
            </a:r>
            <a:r>
              <a:rPr sz="1050" b="1" dirty="0">
                <a:solidFill>
                  <a:srgbClr val="141414"/>
                </a:solidFill>
                <a:latin typeface="Arial"/>
              </a:rPr>
              <a:t>Benefit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0648" y="1679817"/>
            <a:ext cx="2002307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>
                <a:solidFill>
                  <a:srgbClr val="192328"/>
                </a:solidFill>
                <a:latin typeface="Arial"/>
              </a:rPr>
              <a:t>• </a:t>
            </a:r>
            <a:r>
              <a:rPr lang="en-US" sz="800" b="0" dirty="0">
                <a:solidFill>
                  <a:srgbClr val="192328"/>
                </a:solidFill>
                <a:latin typeface="Arial"/>
              </a:rPr>
              <a:t>Improves firefighter safety by providing advance hazard information.</a:t>
            </a:r>
            <a:r>
              <a:rPr sz="800" b="0" dirty="0">
                <a:solidFill>
                  <a:srgbClr val="192328"/>
                </a:solidFill>
                <a:latin typeface="Arial"/>
              </a:rPr>
              <a:t>
• </a:t>
            </a:r>
            <a:r>
              <a:rPr lang="en-US" sz="800" b="0" dirty="0">
                <a:solidFill>
                  <a:srgbClr val="192328"/>
                </a:solidFill>
                <a:latin typeface="Arial"/>
              </a:rPr>
              <a:t>Supports faster and safer victim identification.</a:t>
            </a:r>
            <a:r>
              <a:rPr sz="800" b="0" dirty="0">
                <a:solidFill>
                  <a:srgbClr val="192328"/>
                </a:solidFill>
                <a:latin typeface="Arial"/>
              </a:rPr>
              <a:t>
•</a:t>
            </a:r>
            <a:r>
              <a:rPr lang="en-US" sz="800" dirty="0">
                <a:solidFill>
                  <a:srgbClr val="192328"/>
                </a:solidFill>
                <a:latin typeface="Arial"/>
              </a:rPr>
              <a:t> Provides an affordable guidance system for fire service</a:t>
            </a:r>
            <a:endParaRPr sz="800" b="0" dirty="0">
              <a:solidFill>
                <a:srgbClr val="192328"/>
              </a:solidFill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732779" y="1333949"/>
            <a:ext cx="2227472" cy="1469704"/>
          </a:xfrm>
          <a:prstGeom prst="roundRect">
            <a:avLst/>
          </a:prstGeom>
          <a:solidFill>
            <a:srgbClr val="FFF7C2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44141" y="1357436"/>
            <a:ext cx="139931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41414"/>
                </a:solidFill>
                <a:latin typeface="Arial"/>
              </a:rPr>
              <a:t>Scalability &amp; Impact</a:t>
            </a:r>
            <a:endParaRPr sz="105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860795" y="1681421"/>
            <a:ext cx="1947265" cy="11541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781437"/>
                </a:solidFill>
                <a:latin typeface="Arial"/>
              </a:defRPr>
            </a:pP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Normal Telemetry: Target ≥95% packet delivery (≤5% loss).</a:t>
            </a:r>
          </a:p>
          <a:p>
            <a:pPr>
              <a:spcAft>
                <a:spcPts val="300"/>
              </a:spcAft>
              <a:defRPr sz="800">
                <a:solidFill>
                  <a:srgbClr val="781437"/>
                </a:solidFill>
                <a:latin typeface="Arial"/>
              </a:defRPr>
            </a:pP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Critical Data: Target 98–99% effective delivery using ACK + retransmission.</a:t>
            </a:r>
          </a:p>
          <a:p>
            <a:pPr>
              <a:spcAft>
                <a:spcPts val="300"/>
              </a:spcAft>
              <a:defRPr sz="800">
                <a:solidFill>
                  <a:srgbClr val="781437"/>
                </a:solidFill>
                <a:latin typeface="Arial"/>
              </a:defRPr>
            </a:pP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Scalable Coverage: Add relay nodes as building size and obstruction increase.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59138" y="2941111"/>
            <a:ext cx="2212848" cy="1320615"/>
          </a:xfrm>
          <a:prstGeom prst="roundRect">
            <a:avLst/>
          </a:prstGeom>
          <a:solidFill>
            <a:srgbClr val="E0F7D8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7683135" y="2953527"/>
            <a:ext cx="1564852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50" b="1" dirty="0">
                <a:solidFill>
                  <a:srgbClr val="142D37"/>
                </a:solidFill>
                <a:latin typeface="Arial"/>
              </a:rPr>
              <a:t> Feasibility &amp; Viability</a:t>
            </a:r>
            <a:endParaRPr sz="105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68866" y="3159369"/>
            <a:ext cx="1879092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/>
              <a:t>• Long-Range Communication: </a:t>
            </a:r>
            <a:r>
              <a:rPr lang="en-US" sz="900" dirty="0" err="1"/>
              <a:t>LoRaWAN</a:t>
            </a:r>
            <a:r>
              <a:rPr lang="en-US" sz="900" dirty="0"/>
              <a:t> can exceed 2 miles in suitable urban conditions; building range depends on obstacles</a:t>
            </a:r>
          </a:p>
          <a:p>
            <a:r>
              <a:rPr lang="en-US" sz="900" dirty="0"/>
              <a:t>• Fire-Bot Range Target: 200–500 m per reliable hop inside the building; add relay nodes when link quality drops.</a:t>
            </a:r>
          </a:p>
          <a:p>
            <a:endParaRPr lang="en-US" sz="900" dirty="0"/>
          </a:p>
          <a:p>
            <a:endParaRPr sz="800" b="0" dirty="0">
              <a:solidFill>
                <a:srgbClr val="192328"/>
              </a:solidFill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692639" y="2942714"/>
            <a:ext cx="2258568" cy="1292169"/>
          </a:xfrm>
          <a:prstGeom prst="roundRect">
            <a:avLst/>
          </a:prstGeom>
          <a:solidFill>
            <a:srgbClr val="DDEEF7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7" name="TextBox 56"/>
          <p:cNvSpPr txBox="1"/>
          <p:nvPr/>
        </p:nvSpPr>
        <p:spPr>
          <a:xfrm>
            <a:off x="9802367" y="2887793"/>
            <a:ext cx="203976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050" b="1" dirty="0">
                <a:solidFill>
                  <a:srgbClr val="142D37"/>
                </a:solidFill>
                <a:latin typeface="Arial"/>
              </a:rPr>
              <a:t> Potential Challenges &amp; Risks</a:t>
            </a:r>
            <a:endParaRPr sz="105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792237" y="3239045"/>
            <a:ext cx="2103120" cy="14388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00" dirty="0"/>
              <a:t>• Packet Loss: Published dense-urban trial 26.93–37.75% first-transmission success = 2.27–3.77% loss.</a:t>
            </a:r>
          </a:p>
          <a:p>
            <a:r>
              <a:rPr lang="en-US" sz="800" dirty="0"/>
              <a:t>• Fire-Building Risk: Concrete, steel and debris can increase path loss and packet errors.</a:t>
            </a:r>
          </a:p>
          <a:p>
            <a:r>
              <a:rPr lang="en-US" sz="800" dirty="0"/>
              <a:t>• No Fixed Loss Value: Actual loss must be measured using RSSI, SNR and packet-delivery tests.</a:t>
            </a:r>
          </a:p>
          <a:p>
            <a:endParaRPr lang="en-US" sz="800" dirty="0"/>
          </a:p>
          <a:p>
            <a:endParaRPr lang="en-US" sz="800" dirty="0"/>
          </a:p>
          <a:p>
            <a:pPr algn="l"/>
            <a:endParaRPr sz="750" b="0" dirty="0">
              <a:solidFill>
                <a:srgbClr val="192328"/>
              </a:solidFill>
              <a:latin typeface="Arial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360920" y="4350762"/>
            <a:ext cx="2212848" cy="1371600"/>
          </a:xfrm>
          <a:prstGeom prst="roundRect">
            <a:avLst/>
          </a:prstGeom>
          <a:solidFill>
            <a:srgbClr val="E3F4E5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7664880" y="4424972"/>
            <a:ext cx="1604927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41414"/>
                </a:solidFill>
                <a:latin typeface="Arial"/>
              </a:rPr>
              <a:t>Operational Efficiency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4698234"/>
            <a:ext cx="1774845" cy="5847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 dirty="0">
                <a:solidFill>
                  <a:srgbClr val="192328"/>
                </a:solidFill>
                <a:latin typeface="Arial"/>
              </a:rPr>
              <a:t>• Automates the initial search
• and assessment phase.
• Helps command prioritize
• where rescue teams should enter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47403" y="4352365"/>
            <a:ext cx="2212848" cy="1371600"/>
          </a:xfrm>
          <a:prstGeom prst="roundRect">
            <a:avLst/>
          </a:prstGeom>
          <a:solidFill>
            <a:srgbClr val="DEF7E8"/>
          </a:solidFill>
          <a:ln w="889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25289" y="4422728"/>
            <a:ext cx="1257075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 dirty="0">
                <a:solidFill>
                  <a:srgbClr val="141414"/>
                </a:solidFill>
                <a:latin typeface="Arial"/>
              </a:rPr>
              <a:t>Security Benefit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419" y="4699837"/>
            <a:ext cx="1781257" cy="70788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 dirty="0">
                <a:solidFill>
                  <a:srgbClr val="192328"/>
                </a:solidFill>
                <a:latin typeface="Arial"/>
              </a:rPr>
              <a:t>• Protects data and communication
• from unauthorized access and
• cyber threats.
• Ensures secure transmission
• of fire-scene information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30283" y="5477077"/>
            <a:ext cx="1847088" cy="329184"/>
          </a:xfrm>
          <a:prstGeom prst="roundRect">
            <a:avLst/>
          </a:prstGeom>
          <a:solidFill>
            <a:srgbClr val="1F9767"/>
          </a:solidFill>
          <a:ln w="8890">
            <a:solidFill>
              <a:srgbClr val="1F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10219679" y="5474065"/>
            <a:ext cx="126829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Target: ≥95% secure data
transmission reliability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67160" y="6556248"/>
            <a:ext cx="2743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pic>
        <p:nvPicPr>
          <p:cNvPr id="68" name="Image 1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37160"/>
            <a:ext cx="1417320" cy="530352"/>
          </a:xfrm>
          <a:prstGeom prst="rect">
            <a:avLst/>
          </a:prstGeom>
        </p:spPr>
      </p:pic>
      <p:sp>
        <p:nvSpPr>
          <p:cNvPr id="69" name="Oval 6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056" y="36473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DEEPNEX</a:t>
            </a:r>
          </a:p>
        </p:txBody>
      </p:sp>
    </p:spTree>
    <p:extLst>
      <p:ext uri="{BB962C8B-B14F-4D97-AF65-F5344CB8AC3E}">
        <p14:creationId xmlns:p14="http://schemas.microsoft.com/office/powerpoint/2010/main" val="422777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B55B408-C8BD-F110-55C9-DA87A690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AFC4F67D-D955-1BE9-565F-ABA25B84AED6}"/>
              </a:ext>
            </a:extLst>
          </p:cNvPr>
          <p:cNvSpPr txBox="1"/>
          <p:nvPr/>
        </p:nvSpPr>
        <p:spPr>
          <a:xfrm>
            <a:off x="406400" y="254000"/>
            <a:ext cx="113792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2400" dirty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RESEARCH AND REFERENCES</a:t>
            </a:r>
            <a:endParaRPr sz="2400" dirty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9" name="Google Shape;129;p15">
            <a:extLst>
              <a:ext uri="{FF2B5EF4-FFF2-40B4-BE49-F238E27FC236}">
                <a16:creationId xmlns:a16="http://schemas.microsoft.com/office/drawing/2014/main" id="{1CE281D5-E8B2-E268-DACE-D2B775294B87}"/>
              </a:ext>
            </a:extLst>
          </p:cNvPr>
          <p:cNvGrpSpPr/>
          <p:nvPr/>
        </p:nvGrpSpPr>
        <p:grpSpPr>
          <a:xfrm>
            <a:off x="404876" y="952092"/>
            <a:ext cx="11379200" cy="2666800"/>
            <a:chOff x="0" y="0"/>
            <a:chExt cx="8534400" cy="2000100"/>
          </a:xfrm>
        </p:grpSpPr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471E3F9F-78C9-EF73-2C07-2878D0441441}"/>
                </a:ext>
              </a:extLst>
            </p:cNvPr>
            <p:cNvSpPr/>
            <p:nvPr/>
          </p:nvSpPr>
          <p:spPr>
            <a:xfrm>
              <a:off x="0" y="0"/>
              <a:ext cx="8534400" cy="20001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EB82AF90-7777-729D-2B06-94936A87B2A3}"/>
                </a:ext>
              </a:extLst>
            </p:cNvPr>
            <p:cNvSpPr/>
            <p:nvPr/>
          </p:nvSpPr>
          <p:spPr>
            <a:xfrm>
              <a:off x="0" y="0"/>
              <a:ext cx="8534400" cy="266700"/>
            </a:xfrm>
            <a:prstGeom prst="roundRect">
              <a:avLst>
                <a:gd name="adj" fmla="val 21428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B56A7D54-7B76-F59C-DD75-A7FCC2CFF2E7}"/>
                </a:ext>
              </a:extLst>
            </p:cNvPr>
            <p:cNvSpPr/>
            <p:nvPr/>
          </p:nvSpPr>
          <p:spPr>
            <a:xfrm>
              <a:off x="0" y="209550"/>
              <a:ext cx="8534400" cy="57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33" name="Google Shape;133;p15">
              <a:extLst>
                <a:ext uri="{FF2B5EF4-FFF2-40B4-BE49-F238E27FC236}">
                  <a16:creationId xmlns:a16="http://schemas.microsoft.com/office/drawing/2014/main" id="{0731F1DD-4652-5C68-17EF-0BB8B430E29F}"/>
                </a:ext>
              </a:extLst>
            </p:cNvPr>
            <p:cNvCxnSpPr/>
            <p:nvPr/>
          </p:nvCxnSpPr>
          <p:spPr>
            <a:xfrm>
              <a:off x="0" y="266700"/>
              <a:ext cx="8534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4" name="Google Shape;134;p15">
              <a:extLst>
                <a:ext uri="{FF2B5EF4-FFF2-40B4-BE49-F238E27FC236}">
                  <a16:creationId xmlns:a16="http://schemas.microsoft.com/office/drawing/2014/main" id="{3EC84FF9-3C0F-3374-C185-C428CD62FEC8}"/>
                </a:ext>
              </a:extLst>
            </p:cNvPr>
            <p:cNvSpPr txBox="1"/>
            <p:nvPr/>
          </p:nvSpPr>
          <p:spPr>
            <a:xfrm>
              <a:off x="114300" y="38100"/>
              <a:ext cx="830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 dirty="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Market Analysis </a:t>
              </a:r>
              <a:endParaRPr sz="14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" name="Google Shape;135;p15">
              <a:extLst>
                <a:ext uri="{FF2B5EF4-FFF2-40B4-BE49-F238E27FC236}">
                  <a16:creationId xmlns:a16="http://schemas.microsoft.com/office/drawing/2014/main" id="{B6323C88-11AD-9EC3-890E-A05358808F78}"/>
                </a:ext>
              </a:extLst>
            </p:cNvPr>
            <p:cNvGrpSpPr/>
            <p:nvPr/>
          </p:nvGrpSpPr>
          <p:grpSpPr>
            <a:xfrm>
              <a:off x="2835707" y="376601"/>
              <a:ext cx="1812492" cy="1524000"/>
              <a:chOff x="2721407" y="14651"/>
              <a:chExt cx="1812492" cy="1524000"/>
            </a:xfrm>
          </p:grpSpPr>
          <p:sp>
            <p:nvSpPr>
              <p:cNvPr id="136" name="Google Shape;136;p15">
                <a:extLst>
                  <a:ext uri="{FF2B5EF4-FFF2-40B4-BE49-F238E27FC236}">
                    <a16:creationId xmlns:a16="http://schemas.microsoft.com/office/drawing/2014/main" id="{5FAA687B-26C8-3752-024B-8D7043C077EC}"/>
                  </a:ext>
                </a:extLst>
              </p:cNvPr>
              <p:cNvSpPr/>
              <p:nvPr/>
            </p:nvSpPr>
            <p:spPr>
              <a:xfrm>
                <a:off x="2721407" y="14651"/>
                <a:ext cx="1812492" cy="1524000"/>
              </a:xfrm>
              <a:prstGeom prst="roundRect">
                <a:avLst>
                  <a:gd name="adj" fmla="val 2500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7" name="Google Shape;137;p15">
                <a:extLst>
                  <a:ext uri="{FF2B5EF4-FFF2-40B4-BE49-F238E27FC236}">
                    <a16:creationId xmlns:a16="http://schemas.microsoft.com/office/drawing/2014/main" id="{A3EA3D73-013E-176E-CEDF-E7AEB5A971EE}"/>
                  </a:ext>
                </a:extLst>
              </p:cNvPr>
              <p:cNvSpPr txBox="1"/>
              <p:nvPr/>
            </p:nvSpPr>
            <p:spPr>
              <a:xfrm>
                <a:off x="2761352" y="128951"/>
                <a:ext cx="1658246" cy="12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r>
                  <a:rPr lang="en" sz="1067" b="1" dirty="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TOTAL ADDRESSABLE MARKET</a:t>
                </a:r>
              </a:p>
              <a:p>
                <a:r>
                  <a:rPr lang="en" sz="1067" b="1" dirty="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(TAM)</a:t>
                </a:r>
                <a:endParaRPr sz="1067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200"/>
                  </a:spcBef>
                </a:pPr>
                <a:r>
                  <a:rPr lang="en" sz="1867" dirty="0">
                    <a:solidFill>
                      <a:srgbClr val="1E3A8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₹3,500 Crores</a:t>
                </a:r>
                <a:endParaRPr sz="1867" dirty="0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" sz="1000" dirty="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Represents the overall Indian Firefighting, Disaster Rescue &amp; Industrial Hazard modernization budget.</a:t>
                </a:r>
                <a:endParaRPr sz="1000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8" name="Google Shape;138;p15">
              <a:extLst>
                <a:ext uri="{FF2B5EF4-FFF2-40B4-BE49-F238E27FC236}">
                  <a16:creationId xmlns:a16="http://schemas.microsoft.com/office/drawing/2014/main" id="{3DC0D62D-1ACD-8B08-726A-45FA14FBDBE0}"/>
                </a:ext>
              </a:extLst>
            </p:cNvPr>
            <p:cNvGrpSpPr/>
            <p:nvPr/>
          </p:nvGrpSpPr>
          <p:grpSpPr>
            <a:xfrm>
              <a:off x="4762499" y="376601"/>
              <a:ext cx="1812491" cy="1524000"/>
              <a:chOff x="1838324" y="14651"/>
              <a:chExt cx="1812491" cy="1524000"/>
            </a:xfrm>
          </p:grpSpPr>
          <p:sp>
            <p:nvSpPr>
              <p:cNvPr id="139" name="Google Shape;139;p15">
                <a:extLst>
                  <a:ext uri="{FF2B5EF4-FFF2-40B4-BE49-F238E27FC236}">
                    <a16:creationId xmlns:a16="http://schemas.microsoft.com/office/drawing/2014/main" id="{EA13E99C-5B22-67F6-A814-61A9B81C6659}"/>
                  </a:ext>
                </a:extLst>
              </p:cNvPr>
              <p:cNvSpPr/>
              <p:nvPr/>
            </p:nvSpPr>
            <p:spPr>
              <a:xfrm>
                <a:off x="1838324" y="14651"/>
                <a:ext cx="1812491" cy="1524000"/>
              </a:xfrm>
              <a:prstGeom prst="roundRect">
                <a:avLst>
                  <a:gd name="adj" fmla="val 2500"/>
                </a:avLst>
              </a:prstGeom>
              <a:solidFill>
                <a:srgbClr val="F0FDF4"/>
              </a:solidFill>
              <a:ln w="9525" cap="flat" cmpd="sng">
                <a:solidFill>
                  <a:srgbClr val="BBF7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0" name="Google Shape;140;p15">
                <a:extLst>
                  <a:ext uri="{FF2B5EF4-FFF2-40B4-BE49-F238E27FC236}">
                    <a16:creationId xmlns:a16="http://schemas.microsoft.com/office/drawing/2014/main" id="{16FFC078-B0E4-8244-CB3E-E43AA8E0574C}"/>
                  </a:ext>
                </a:extLst>
              </p:cNvPr>
              <p:cNvSpPr txBox="1"/>
              <p:nvPr/>
            </p:nvSpPr>
            <p:spPr>
              <a:xfrm>
                <a:off x="1878270" y="128951"/>
                <a:ext cx="1658245" cy="12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r>
                  <a:rPr lang="en" sz="1067" b="1" dirty="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SERVICEABLE AVAILABLE MARKET</a:t>
                </a:r>
              </a:p>
              <a:p>
                <a:r>
                  <a:rPr lang="en" sz="1067" b="1" dirty="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(SAM)</a:t>
                </a:r>
                <a:endParaRPr sz="1067" b="1" dirty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200"/>
                  </a:spcBef>
                </a:pPr>
                <a:r>
                  <a:rPr lang="en" sz="1867" dirty="0">
                    <a:solidFill>
                      <a:srgbClr val="14532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₹500 Crores</a:t>
                </a:r>
                <a:endParaRPr sz="1867" dirty="0">
                  <a:solidFill>
                    <a:srgbClr val="14532D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" sz="1000" dirty="0">
                    <a:solidFill>
                      <a:srgbClr val="14532D"/>
                    </a:solidFill>
                    <a:latin typeface="Inter"/>
                    <a:ea typeface="Inter"/>
                    <a:cs typeface="Inter"/>
                    <a:sym typeface="Inter"/>
                  </a:rPr>
                  <a:t>Targeting ~1,500 major fire stations, NDRF/SDRF units, and heavy industrial plants across India.</a:t>
                </a:r>
                <a:endParaRPr sz="1000" dirty="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1" name="Google Shape;141;p15">
              <a:extLst>
                <a:ext uri="{FF2B5EF4-FFF2-40B4-BE49-F238E27FC236}">
                  <a16:creationId xmlns:a16="http://schemas.microsoft.com/office/drawing/2014/main" id="{76E566FA-8097-B2EE-4AB1-D6FA03DF08CD}"/>
                </a:ext>
              </a:extLst>
            </p:cNvPr>
            <p:cNvGrpSpPr/>
            <p:nvPr/>
          </p:nvGrpSpPr>
          <p:grpSpPr>
            <a:xfrm>
              <a:off x="6653213" y="361950"/>
              <a:ext cx="1812491" cy="1524000"/>
              <a:chOff x="919163" y="0"/>
              <a:chExt cx="1812491" cy="1524000"/>
            </a:xfrm>
          </p:grpSpPr>
          <p:sp>
            <p:nvSpPr>
              <p:cNvPr id="142" name="Google Shape;142;p15">
                <a:extLst>
                  <a:ext uri="{FF2B5EF4-FFF2-40B4-BE49-F238E27FC236}">
                    <a16:creationId xmlns:a16="http://schemas.microsoft.com/office/drawing/2014/main" id="{02BDFFE2-1E68-99E3-5D05-9419D89AD8CA}"/>
                  </a:ext>
                </a:extLst>
              </p:cNvPr>
              <p:cNvSpPr/>
              <p:nvPr/>
            </p:nvSpPr>
            <p:spPr>
              <a:xfrm>
                <a:off x="919163" y="0"/>
                <a:ext cx="1812491" cy="1524000"/>
              </a:xfrm>
              <a:prstGeom prst="roundRect">
                <a:avLst>
                  <a:gd name="adj" fmla="val 2500"/>
                </a:avLst>
              </a:prstGeom>
              <a:solidFill>
                <a:srgbClr val="FFFBEB"/>
              </a:solidFill>
              <a:ln w="9525" cap="flat" cmpd="sng">
                <a:solidFill>
                  <a:srgbClr val="FDE6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3" name="Google Shape;143;p15">
                <a:extLst>
                  <a:ext uri="{FF2B5EF4-FFF2-40B4-BE49-F238E27FC236}">
                    <a16:creationId xmlns:a16="http://schemas.microsoft.com/office/drawing/2014/main" id="{39792657-39CF-A49E-53B6-DE70437E17A6}"/>
                  </a:ext>
                </a:extLst>
              </p:cNvPr>
              <p:cNvSpPr txBox="1"/>
              <p:nvPr/>
            </p:nvSpPr>
            <p:spPr>
              <a:xfrm>
                <a:off x="955241" y="114300"/>
                <a:ext cx="1658245" cy="129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r>
                  <a:rPr lang="en" sz="1067" b="1" dirty="0">
                    <a:solidFill>
                      <a:srgbClr val="92400E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SERVICEABLE OBTAINABLE MARKET</a:t>
                </a:r>
              </a:p>
              <a:p>
                <a:r>
                  <a:rPr lang="en" sz="1067" b="1" dirty="0">
                    <a:solidFill>
                      <a:srgbClr val="92400E"/>
                    </a:solidFill>
                    <a:latin typeface="Inter"/>
                    <a:ea typeface="Inter"/>
                    <a:cs typeface="Inter"/>
                    <a:sym typeface="Inter"/>
                  </a:rPr>
                  <a:t>(SOM)</a:t>
                </a:r>
                <a:endParaRPr sz="1067" b="1" dirty="0">
                  <a:solidFill>
                    <a:srgbClr val="92400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200"/>
                  </a:spcBef>
                </a:pPr>
                <a:r>
                  <a:rPr lang="en" sz="1867" dirty="0">
                    <a:solidFill>
                      <a:srgbClr val="78350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₹15 Crores</a:t>
                </a:r>
                <a:endParaRPr sz="1867" dirty="0">
                  <a:solidFill>
                    <a:srgbClr val="78350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" sz="1000" dirty="0">
                    <a:solidFill>
                      <a:srgbClr val="78350F"/>
                    </a:solidFill>
                    <a:latin typeface="Inter"/>
                    <a:ea typeface="Inter"/>
                    <a:cs typeface="Inter"/>
                    <a:sym typeface="Inter"/>
                  </a:rPr>
                  <a:t>1-year initial pilot program capturing 5% of SAM (deploying 75 units at ₹20 Lakhs each).</a:t>
                </a:r>
                <a:endParaRPr sz="1000" dirty="0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4" name="Google Shape;144;p15">
            <a:extLst>
              <a:ext uri="{FF2B5EF4-FFF2-40B4-BE49-F238E27FC236}">
                <a16:creationId xmlns:a16="http://schemas.microsoft.com/office/drawing/2014/main" id="{447D935B-AD3A-017D-EDA7-4D814E8ECDD7}"/>
              </a:ext>
            </a:extLst>
          </p:cNvPr>
          <p:cNvGrpSpPr/>
          <p:nvPr/>
        </p:nvGrpSpPr>
        <p:grpSpPr>
          <a:xfrm>
            <a:off x="406400" y="3632200"/>
            <a:ext cx="6350000" cy="2793999"/>
            <a:chOff x="0" y="0"/>
            <a:chExt cx="4762500" cy="2190900"/>
          </a:xfrm>
        </p:grpSpPr>
        <p:sp>
          <p:nvSpPr>
            <p:cNvPr id="145" name="Google Shape;145;p15">
              <a:extLst>
                <a:ext uri="{FF2B5EF4-FFF2-40B4-BE49-F238E27FC236}">
                  <a16:creationId xmlns:a16="http://schemas.microsoft.com/office/drawing/2014/main" id="{228288AD-77C1-BC3C-665E-D4435A6D816B}"/>
                </a:ext>
              </a:extLst>
            </p:cNvPr>
            <p:cNvSpPr/>
            <p:nvPr/>
          </p:nvSpPr>
          <p:spPr>
            <a:xfrm>
              <a:off x="0" y="0"/>
              <a:ext cx="4762500" cy="2190900"/>
            </a:xfrm>
            <a:prstGeom prst="roundRect">
              <a:avLst>
                <a:gd name="adj" fmla="val 2608"/>
              </a:avLst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5">
              <a:extLst>
                <a:ext uri="{FF2B5EF4-FFF2-40B4-BE49-F238E27FC236}">
                  <a16:creationId xmlns:a16="http://schemas.microsoft.com/office/drawing/2014/main" id="{AEDC0DBE-F435-4579-05BB-C51F290E4A36}"/>
                </a:ext>
              </a:extLst>
            </p:cNvPr>
            <p:cNvSpPr/>
            <p:nvPr/>
          </p:nvSpPr>
          <p:spPr>
            <a:xfrm>
              <a:off x="0" y="0"/>
              <a:ext cx="4762500" cy="266700"/>
            </a:xfrm>
            <a:prstGeom prst="roundRect">
              <a:avLst>
                <a:gd name="adj" fmla="val 21428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5">
              <a:extLst>
                <a:ext uri="{FF2B5EF4-FFF2-40B4-BE49-F238E27FC236}">
                  <a16:creationId xmlns:a16="http://schemas.microsoft.com/office/drawing/2014/main" id="{E63E38C8-8819-AB92-AEA6-61F5EB987D65}"/>
                </a:ext>
              </a:extLst>
            </p:cNvPr>
            <p:cNvSpPr/>
            <p:nvPr/>
          </p:nvSpPr>
          <p:spPr>
            <a:xfrm>
              <a:off x="0" y="209550"/>
              <a:ext cx="4762500" cy="57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48" name="Google Shape;148;p15">
              <a:extLst>
                <a:ext uri="{FF2B5EF4-FFF2-40B4-BE49-F238E27FC236}">
                  <a16:creationId xmlns:a16="http://schemas.microsoft.com/office/drawing/2014/main" id="{577235E0-82CC-96D8-822E-70CB51C9E369}"/>
                </a:ext>
              </a:extLst>
            </p:cNvPr>
            <p:cNvCxnSpPr/>
            <p:nvPr/>
          </p:nvCxnSpPr>
          <p:spPr>
            <a:xfrm>
              <a:off x="0" y="266700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9" name="Google Shape;149;p15">
              <a:extLst>
                <a:ext uri="{FF2B5EF4-FFF2-40B4-BE49-F238E27FC236}">
                  <a16:creationId xmlns:a16="http://schemas.microsoft.com/office/drawing/2014/main" id="{D34C0866-A766-5A89-3E3D-5DE8F7557FE4}"/>
                </a:ext>
              </a:extLst>
            </p:cNvPr>
            <p:cNvSpPr txBox="1"/>
            <p:nvPr/>
          </p:nvSpPr>
          <p:spPr>
            <a:xfrm>
              <a:off x="114300" y="38100"/>
              <a:ext cx="4533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REFERENCES</a:t>
              </a:r>
              <a:endParaRPr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0" name="Google Shape;150;p15">
              <a:extLst>
                <a:ext uri="{FF2B5EF4-FFF2-40B4-BE49-F238E27FC236}">
                  <a16:creationId xmlns:a16="http://schemas.microsoft.com/office/drawing/2014/main" id="{4936989A-978A-B0B0-6D05-31F4AB882F7B}"/>
                </a:ext>
              </a:extLst>
            </p:cNvPr>
            <p:cNvSpPr txBox="1"/>
            <p:nvPr/>
          </p:nvSpPr>
          <p:spPr>
            <a:xfrm>
              <a:off x="114300" y="342900"/>
              <a:ext cx="45339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609585" indent="-368291"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Indian Express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(30 June 2026) – </a:t>
              </a:r>
              <a:r>
                <a:rPr lang="en" sz="1000" i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"Drones, AI, auto-alerts: Delhi's firefighting plan for the next 25 years"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609585" indent="-368291">
                <a:spcBef>
                  <a:spcPts val="400"/>
                </a:spcBef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Indian Express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(23 March 2026) – </a:t>
              </a:r>
              <a:r>
                <a:rPr lang="en" sz="1000" i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"Inflammable material in basement, traffic, repair work: Report highlights problems..."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609585" indent="-368291">
                <a:spcBef>
                  <a:spcPts val="400"/>
                </a:spcBef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Indian Express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(19 March 2026) – </a:t>
              </a:r>
              <a:r>
                <a:rPr lang="en" sz="1000" i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"Single entrance, 'malfunctioning' hydraulic crane, absence of ventilation..."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609585" indent="-368291">
                <a:spcBef>
                  <a:spcPts val="400"/>
                </a:spcBef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Li et al.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(2019) — </a:t>
              </a:r>
              <a:r>
                <a:rPr lang="en" sz="1000" i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Fire Reconnaissance Robot Based on SLAM, Thermal Imaging and AR Display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Sensors, 19(22), 5036.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609585" indent="-368291">
                <a:spcBef>
                  <a:spcPts val="400"/>
                </a:spcBef>
                <a:spcAft>
                  <a:spcPts val="400"/>
                </a:spcAft>
                <a:buClr>
                  <a:srgbClr val="334155"/>
                </a:buClr>
                <a:buSzPts val="750"/>
                <a:buFont typeface="Inter"/>
                <a:buChar char="●"/>
              </a:pP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Gelfert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(2023) — </a:t>
              </a:r>
              <a:r>
                <a:rPr lang="en" sz="1000" i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Sensor Review for Human Detection with Robotic Systems in Regular and Smoky Environments.</a:t>
              </a:r>
              <a:endParaRPr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5">
            <a:extLst>
              <a:ext uri="{FF2B5EF4-FFF2-40B4-BE49-F238E27FC236}">
                <a16:creationId xmlns:a16="http://schemas.microsoft.com/office/drawing/2014/main" id="{D1737537-860F-E041-3BD0-ACD1807C0BE4}"/>
              </a:ext>
            </a:extLst>
          </p:cNvPr>
          <p:cNvGrpSpPr/>
          <p:nvPr/>
        </p:nvGrpSpPr>
        <p:grpSpPr>
          <a:xfrm>
            <a:off x="6959600" y="3682800"/>
            <a:ext cx="4826000" cy="2743400"/>
            <a:chOff x="0" y="0"/>
            <a:chExt cx="3619500" cy="2057550"/>
          </a:xfrm>
        </p:grpSpPr>
        <p:sp>
          <p:nvSpPr>
            <p:cNvPr id="153" name="Google Shape;153;p15">
              <a:extLst>
                <a:ext uri="{FF2B5EF4-FFF2-40B4-BE49-F238E27FC236}">
                  <a16:creationId xmlns:a16="http://schemas.microsoft.com/office/drawing/2014/main" id="{9DCA5639-6110-9F44-2DD1-2208ECDA9002}"/>
                </a:ext>
              </a:extLst>
            </p:cNvPr>
            <p:cNvSpPr/>
            <p:nvPr/>
          </p:nvSpPr>
          <p:spPr>
            <a:xfrm>
              <a:off x="0" y="0"/>
              <a:ext cx="3619500" cy="266700"/>
            </a:xfrm>
            <a:prstGeom prst="roundRect">
              <a:avLst>
                <a:gd name="adj" fmla="val 21428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5">
              <a:extLst>
                <a:ext uri="{FF2B5EF4-FFF2-40B4-BE49-F238E27FC236}">
                  <a16:creationId xmlns:a16="http://schemas.microsoft.com/office/drawing/2014/main" id="{B5410AC7-C413-85B3-D656-F2BB6F339CA1}"/>
                </a:ext>
              </a:extLst>
            </p:cNvPr>
            <p:cNvSpPr/>
            <p:nvPr/>
          </p:nvSpPr>
          <p:spPr>
            <a:xfrm>
              <a:off x="0" y="209550"/>
              <a:ext cx="3619500" cy="57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/>
            </a:p>
          </p:txBody>
        </p:sp>
        <p:cxnSp>
          <p:nvCxnSpPr>
            <p:cNvPr id="155" name="Google Shape;155;p15">
              <a:extLst>
                <a:ext uri="{FF2B5EF4-FFF2-40B4-BE49-F238E27FC236}">
                  <a16:creationId xmlns:a16="http://schemas.microsoft.com/office/drawing/2014/main" id="{5EEB8D13-040F-2E57-5526-6AFA99989D6F}"/>
                </a:ext>
              </a:extLst>
            </p:cNvPr>
            <p:cNvCxnSpPr/>
            <p:nvPr/>
          </p:nvCxnSpPr>
          <p:spPr>
            <a:xfrm>
              <a:off x="0" y="266700"/>
              <a:ext cx="3619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6" name="Google Shape;156;p15">
              <a:extLst>
                <a:ext uri="{FF2B5EF4-FFF2-40B4-BE49-F238E27FC236}">
                  <a16:creationId xmlns:a16="http://schemas.microsoft.com/office/drawing/2014/main" id="{74A6989C-72D9-51DF-10B9-D6DC3552B1B1}"/>
                </a:ext>
              </a:extLst>
            </p:cNvPr>
            <p:cNvSpPr txBox="1"/>
            <p:nvPr/>
          </p:nvSpPr>
          <p:spPr>
            <a:xfrm>
              <a:off x="114300" y="38100"/>
              <a:ext cx="33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" sz="1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LINKS</a:t>
              </a:r>
              <a:endParaRPr sz="1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5">
              <a:extLst>
                <a:ext uri="{FF2B5EF4-FFF2-40B4-BE49-F238E27FC236}">
                  <a16:creationId xmlns:a16="http://schemas.microsoft.com/office/drawing/2014/main" id="{414D9116-E4DE-E2A9-859B-E7EB3248500F}"/>
                </a:ext>
              </a:extLst>
            </p:cNvPr>
            <p:cNvSpPr txBox="1"/>
            <p:nvPr/>
          </p:nvSpPr>
          <p:spPr>
            <a:xfrm>
              <a:off x="114300" y="304950"/>
              <a:ext cx="33909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" sz="1000" b="1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Project Repository &amp; Documentation:</a:t>
              </a:r>
            </a:p>
            <a:p>
              <a:endParaRPr lang="en" sz="10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endParaRPr lang="en" sz="10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endParaRPr lang="en" sz="10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endParaRPr sz="10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3C3B2C6-443E-51C2-E691-3D35372DA956}"/>
              </a:ext>
            </a:extLst>
          </p:cNvPr>
          <p:cNvSpPr/>
          <p:nvPr/>
        </p:nvSpPr>
        <p:spPr>
          <a:xfrm>
            <a:off x="7093946" y="4388334"/>
            <a:ext cx="43870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u="sng" dirty="0">
                <a:solidFill>
                  <a:srgbClr val="0066CC"/>
                </a:solidFill>
                <a:hlinkClick r:id="rId3"/>
              </a:rPr>
              <a:t>https://github.com/Shwetank-Sinha/TEAM-DEEPNEX-SIH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BABD3F-22FA-2ED2-7D27-E18DBB3910E6}"/>
              </a:ext>
            </a:extLst>
          </p:cNvPr>
          <p:cNvSpPr/>
          <p:nvPr/>
        </p:nvSpPr>
        <p:spPr>
          <a:xfrm>
            <a:off x="558800" y="1685925"/>
            <a:ext cx="3213100" cy="15904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FA3288-66F0-8496-395D-021BB1CBC7E3}"/>
              </a:ext>
            </a:extLst>
          </p:cNvPr>
          <p:cNvSpPr/>
          <p:nvPr/>
        </p:nvSpPr>
        <p:spPr>
          <a:xfrm>
            <a:off x="914400" y="2106834"/>
            <a:ext cx="2574655" cy="11555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3E5E60-1449-6A3F-F7E5-10C065263A95}"/>
              </a:ext>
            </a:extLst>
          </p:cNvPr>
          <p:cNvSpPr/>
          <p:nvPr/>
        </p:nvSpPr>
        <p:spPr>
          <a:xfrm>
            <a:off x="1276350" y="2493571"/>
            <a:ext cx="1834002" cy="76884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452FD5-4704-ABB3-AF21-B96459B23A2C}"/>
              </a:ext>
            </a:extLst>
          </p:cNvPr>
          <p:cNvCxnSpPr>
            <a:cxnSpLocks/>
          </p:cNvCxnSpPr>
          <p:nvPr/>
        </p:nvCxnSpPr>
        <p:spPr>
          <a:xfrm flipV="1">
            <a:off x="2238375" y="1295400"/>
            <a:ext cx="676275" cy="5524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9F28F6-3D5C-C2B4-E781-8CD8453119C5}"/>
              </a:ext>
            </a:extLst>
          </p:cNvPr>
          <p:cNvSpPr txBox="1"/>
          <p:nvPr/>
        </p:nvSpPr>
        <p:spPr>
          <a:xfrm>
            <a:off x="2796289" y="1066075"/>
            <a:ext cx="91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TAM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EACF30-4201-0834-34CC-FB8B3F94A827}"/>
              </a:ext>
            </a:extLst>
          </p:cNvPr>
          <p:cNvCxnSpPr/>
          <p:nvPr/>
        </p:nvCxnSpPr>
        <p:spPr>
          <a:xfrm flipV="1">
            <a:off x="2438400" y="1628775"/>
            <a:ext cx="771525" cy="651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1F010F-97E2-7409-2BA6-0A0078A4A727}"/>
              </a:ext>
            </a:extLst>
          </p:cNvPr>
          <p:cNvSpPr txBox="1"/>
          <p:nvPr/>
        </p:nvSpPr>
        <p:spPr>
          <a:xfrm>
            <a:off x="3142665" y="1386130"/>
            <a:ext cx="67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E58E82-3562-4AA8-2BCC-C1AA64F0F152}"/>
              </a:ext>
            </a:extLst>
          </p:cNvPr>
          <p:cNvCxnSpPr/>
          <p:nvPr/>
        </p:nvCxnSpPr>
        <p:spPr>
          <a:xfrm flipV="1">
            <a:off x="2686050" y="1954455"/>
            <a:ext cx="981075" cy="923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BFF346-879B-50C7-C0E5-971648C28F72}"/>
              </a:ext>
            </a:extLst>
          </p:cNvPr>
          <p:cNvSpPr txBox="1"/>
          <p:nvPr/>
        </p:nvSpPr>
        <p:spPr>
          <a:xfrm>
            <a:off x="3578328" y="1685925"/>
            <a:ext cx="72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</a:t>
            </a:r>
            <a:endParaRPr lang="en-IN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C9A88A54-E634-5699-C7B3-0ED30259D24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5843B849-44C6-2773-BCEE-548ED0329252}"/>
              </a:ext>
            </a:extLst>
          </p:cNvPr>
          <p:cNvSpPr txBox="1"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/>
            <a:endParaRPr lang="en-US" sz="11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08D68AFE-5D53-C05F-329D-751B6907A751}"/>
              </a:ext>
            </a:extLst>
          </p:cNvPr>
          <p:cNvSpPr txBox="1"/>
          <p:nvPr/>
        </p:nvSpPr>
        <p:spPr>
          <a:xfrm>
            <a:off x="11580876" y="6553053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37" name="Image 1" descr="sih_logo.png">
            <a:extLst>
              <a:ext uri="{FF2B5EF4-FFF2-40B4-BE49-F238E27FC236}">
                <a16:creationId xmlns:a16="http://schemas.microsoft.com/office/drawing/2014/main" id="{532A4D08-4273-8FAE-D263-8DCCEDEA8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137160"/>
            <a:ext cx="1417320" cy="530352"/>
          </a:xfrm>
          <a:prstGeom prst="rect">
            <a:avLst/>
          </a:prstGeom>
        </p:spPr>
      </p:pic>
      <p:sp>
        <p:nvSpPr>
          <p:cNvPr id="49" name="Oval 4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493" y="2190"/>
            <a:ext cx="1251857" cy="807334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DEEPNEX</a:t>
            </a:r>
          </a:p>
        </p:txBody>
      </p:sp>
    </p:spTree>
    <p:extLst>
      <p:ext uri="{BB962C8B-B14F-4D97-AF65-F5344CB8AC3E}">
        <p14:creationId xmlns:p14="http://schemas.microsoft.com/office/powerpoint/2010/main" val="125258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1673</Words>
  <Application>Microsoft Office PowerPoint</Application>
  <PresentationFormat>Widescreen</PresentationFormat>
  <Paragraphs>201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Arial Bold</vt:lpstr>
      <vt:lpstr>Calibri</vt:lpstr>
      <vt:lpstr>Cambria Math</vt:lpstr>
      <vt:lpstr>Garamond</vt:lpstr>
      <vt:lpstr>Google Sans</vt:lpstr>
      <vt:lpstr>Google Sans Text</vt:lpstr>
      <vt:lpstr>Inter</vt:lpstr>
      <vt:lpstr>Inter ExtraBold</vt:lpstr>
      <vt:lpstr>Inter Medium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Navneet Arun</cp:lastModifiedBy>
  <cp:revision>151</cp:revision>
  <dcterms:created xsi:type="dcterms:W3CDTF">2013-12-12T18:46:50Z</dcterms:created>
  <dcterms:modified xsi:type="dcterms:W3CDTF">2026-09-23T14:05:10Z</dcterms:modified>
  <cp:category/>
</cp:coreProperties>
</file>